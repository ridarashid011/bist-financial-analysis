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Poppins" charset="1" panose="00000500000000000000"/>
      <p:regular r:id="rId28"/>
    </p:embeddedFont>
    <p:embeddedFont>
      <p:font typeface="Bicubik" charset="1" panose="02000503020000020004"/>
      <p:regular r:id="rId29"/>
    </p:embeddedFont>
    <p:embeddedFont>
      <p:font typeface="Canva Sans" charset="1" panose="020B0503030501040103"/>
      <p:regular r:id="rId30"/>
    </p:embeddedFont>
    <p:embeddedFont>
      <p:font typeface="Open Sauce Bold" charset="1" panose="00000800000000000000"/>
      <p:regular r:id="rId31"/>
    </p:embeddedFont>
    <p:embeddedFont>
      <p:font typeface="Canva Sans Medium" charset="1" panose="020B0603030501040103"/>
      <p:regular r:id="rId32"/>
    </p:embeddedFont>
    <p:embeddedFont>
      <p:font typeface="Poppins Light" charset="1" panose="000004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793181" y="3724029"/>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292712" y="7472037"/>
            <a:ext cx="7637919" cy="1961953"/>
            <a:chOff x="0" y="0"/>
            <a:chExt cx="2011633" cy="516728"/>
          </a:xfrm>
        </p:grpSpPr>
        <p:sp>
          <p:nvSpPr>
            <p:cNvPr name="Freeform 8" id="8"/>
            <p:cNvSpPr/>
            <p:nvPr/>
          </p:nvSpPr>
          <p:spPr>
            <a:xfrm flipH="false" flipV="false" rot="0">
              <a:off x="0" y="0"/>
              <a:ext cx="2011633" cy="516728"/>
            </a:xfrm>
            <a:custGeom>
              <a:avLst/>
              <a:gdLst/>
              <a:ahLst/>
              <a:cxnLst/>
              <a:rect r="r" b="b" t="t" l="l"/>
              <a:pathLst>
                <a:path h="516728" w="2011633">
                  <a:moveTo>
                    <a:pt x="0" y="0"/>
                  </a:moveTo>
                  <a:lnTo>
                    <a:pt x="2011633" y="0"/>
                  </a:lnTo>
                  <a:lnTo>
                    <a:pt x="2011633" y="516728"/>
                  </a:lnTo>
                  <a:lnTo>
                    <a:pt x="0" y="516728"/>
                  </a:lnTo>
                  <a:close/>
                </a:path>
              </a:pathLst>
            </a:custGeom>
            <a:solidFill>
              <a:srgbClr val="FFFFFF"/>
            </a:solidFill>
            <a:ln w="9525" cap="sq">
              <a:solidFill>
                <a:srgbClr val="737373"/>
              </a:solidFill>
              <a:prstDash val="solid"/>
              <a:miter/>
            </a:ln>
          </p:spPr>
        </p:sp>
        <p:sp>
          <p:nvSpPr>
            <p:cNvPr name="TextBox 9" id="9"/>
            <p:cNvSpPr txBox="true"/>
            <p:nvPr/>
          </p:nvSpPr>
          <p:spPr>
            <a:xfrm>
              <a:off x="0" y="47625"/>
              <a:ext cx="2011633" cy="469103"/>
            </a:xfrm>
            <a:prstGeom prst="rect">
              <a:avLst/>
            </a:prstGeom>
          </p:spPr>
          <p:txBody>
            <a:bodyPr anchor="ctr" rtlCol="false" tIns="50800" lIns="50800" bIns="50800" rIns="50800"/>
            <a:lstStyle/>
            <a:p>
              <a:pPr algn="ctr">
                <a:lnSpc>
                  <a:spcPts val="1120"/>
                </a:lnSpc>
              </a:pPr>
            </a:p>
          </p:txBody>
        </p:sp>
      </p:grpSp>
      <p:sp>
        <p:nvSpPr>
          <p:cNvPr name="Freeform 10" id="10"/>
          <p:cNvSpPr/>
          <p:nvPr/>
        </p:nvSpPr>
        <p:spPr>
          <a:xfrm flipH="false" flipV="false" rot="0">
            <a:off x="3501600" y="8970251"/>
            <a:ext cx="316219" cy="79055"/>
          </a:xfrm>
          <a:custGeom>
            <a:avLst/>
            <a:gdLst/>
            <a:ahLst/>
            <a:cxnLst/>
            <a:rect r="r" b="b" t="t" l="l"/>
            <a:pathLst>
              <a:path h="79055" w="316219">
                <a:moveTo>
                  <a:pt x="0" y="0"/>
                </a:moveTo>
                <a:lnTo>
                  <a:pt x="316219" y="0"/>
                </a:lnTo>
                <a:lnTo>
                  <a:pt x="316219" y="79055"/>
                </a:lnTo>
                <a:lnTo>
                  <a:pt x="0" y="790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4405524" y="8891197"/>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3724029"/>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761760" y="1152525"/>
            <a:ext cx="14700460" cy="2004432"/>
          </a:xfrm>
          <a:prstGeom prst="rect">
            <a:avLst/>
          </a:prstGeom>
        </p:spPr>
        <p:txBody>
          <a:bodyPr anchor="t" rtlCol="false" tIns="0" lIns="0" bIns="0" rIns="0">
            <a:spAutoFit/>
          </a:bodyPr>
          <a:lstStyle/>
          <a:p>
            <a:pPr algn="ctr">
              <a:lnSpc>
                <a:spcPts val="4774"/>
              </a:lnSpc>
            </a:pPr>
            <a:r>
              <a:rPr lang="en-US" sz="3410">
                <a:solidFill>
                  <a:srgbClr val="000000"/>
                </a:solidFill>
                <a:latin typeface="Poppins"/>
                <a:ea typeface="Poppins"/>
                <a:cs typeface="Poppins"/>
                <a:sym typeface="Poppins"/>
              </a:rPr>
              <a:t>Financial Computer Simulation (FM 617)</a:t>
            </a:r>
          </a:p>
          <a:p>
            <a:pPr algn="ctr">
              <a:lnSpc>
                <a:spcPts val="4774"/>
              </a:lnSpc>
            </a:pPr>
            <a:r>
              <a:rPr lang="en-US" sz="3410">
                <a:solidFill>
                  <a:srgbClr val="000000"/>
                </a:solidFill>
                <a:latin typeface="Poppins"/>
                <a:ea typeface="Poppins"/>
                <a:cs typeface="Poppins"/>
                <a:sym typeface="Poppins"/>
              </a:rPr>
              <a:t>BS-Financial Mathematics (4TH Year)</a:t>
            </a:r>
          </a:p>
          <a:p>
            <a:pPr algn="ctr">
              <a:lnSpc>
                <a:spcPts val="6314"/>
              </a:lnSpc>
              <a:spcBef>
                <a:spcPct val="0"/>
              </a:spcBef>
            </a:pPr>
            <a:r>
              <a:rPr lang="en-US" sz="4510">
                <a:solidFill>
                  <a:srgbClr val="000000"/>
                </a:solidFill>
                <a:latin typeface="Poppins"/>
                <a:ea typeface="Poppins"/>
                <a:cs typeface="Poppins"/>
                <a:sym typeface="Poppins"/>
              </a:rPr>
              <a:t>Final Year Project (1)</a:t>
            </a:r>
          </a:p>
        </p:txBody>
      </p:sp>
      <p:sp>
        <p:nvSpPr>
          <p:cNvPr name="TextBox 14" id="14"/>
          <p:cNvSpPr txBox="true"/>
          <p:nvPr/>
        </p:nvSpPr>
        <p:spPr>
          <a:xfrm rot="0">
            <a:off x="1825780" y="4400681"/>
            <a:ext cx="14700460" cy="1580887"/>
          </a:xfrm>
          <a:prstGeom prst="rect">
            <a:avLst/>
          </a:prstGeom>
        </p:spPr>
        <p:txBody>
          <a:bodyPr anchor="t" rtlCol="false" tIns="0" lIns="0" bIns="0" rIns="0">
            <a:spAutoFit/>
          </a:bodyPr>
          <a:lstStyle/>
          <a:p>
            <a:pPr algn="ctr">
              <a:lnSpc>
                <a:spcPts val="6314"/>
              </a:lnSpc>
              <a:spcBef>
                <a:spcPct val="0"/>
              </a:spcBef>
            </a:pPr>
            <a:r>
              <a:rPr lang="en-US" sz="4510" u="sng">
                <a:solidFill>
                  <a:srgbClr val="C1FF72"/>
                </a:solidFill>
                <a:latin typeface="Bicubik"/>
                <a:ea typeface="Bicubik"/>
                <a:cs typeface="Bicubik"/>
                <a:sym typeface="Bicubik"/>
              </a:rPr>
              <a:t>Financial Forecasting Pipeline — Python Project Overview</a:t>
            </a:r>
          </a:p>
        </p:txBody>
      </p:sp>
      <p:sp>
        <p:nvSpPr>
          <p:cNvPr name="TextBox 15" id="15"/>
          <p:cNvSpPr txBox="true"/>
          <p:nvPr/>
        </p:nvSpPr>
        <p:spPr>
          <a:xfrm rot="0">
            <a:off x="4357171" y="7696861"/>
            <a:ext cx="9509002" cy="1436106"/>
          </a:xfrm>
          <a:prstGeom prst="rect">
            <a:avLst/>
          </a:prstGeom>
        </p:spPr>
        <p:txBody>
          <a:bodyPr anchor="t" rtlCol="false" tIns="0" lIns="0" bIns="0" rIns="0">
            <a:spAutoFit/>
          </a:bodyPr>
          <a:lstStyle/>
          <a:p>
            <a:pPr algn="ctr">
              <a:lnSpc>
                <a:spcPts val="3794"/>
              </a:lnSpc>
            </a:pPr>
            <a:r>
              <a:rPr lang="en-US" sz="2710">
                <a:solidFill>
                  <a:srgbClr val="000000"/>
                </a:solidFill>
                <a:latin typeface="Poppins"/>
                <a:ea typeface="Poppins"/>
                <a:cs typeface="Poppins"/>
                <a:sym typeface="Poppins"/>
              </a:rPr>
              <a:t>Name: Rida</a:t>
            </a:r>
          </a:p>
          <a:p>
            <a:pPr algn="ctr">
              <a:lnSpc>
                <a:spcPts val="3794"/>
              </a:lnSpc>
            </a:pPr>
            <a:r>
              <a:rPr lang="en-US" sz="2710">
                <a:solidFill>
                  <a:srgbClr val="000000"/>
                </a:solidFill>
                <a:latin typeface="Poppins"/>
                <a:ea typeface="Poppins"/>
                <a:cs typeface="Poppins"/>
                <a:sym typeface="Poppins"/>
              </a:rPr>
              <a:t>Father Name: Muhammad Rashid</a:t>
            </a:r>
          </a:p>
          <a:p>
            <a:pPr algn="ctr">
              <a:lnSpc>
                <a:spcPts val="3794"/>
              </a:lnSpc>
            </a:pPr>
            <a:r>
              <a:rPr lang="en-US" sz="2710">
                <a:solidFill>
                  <a:srgbClr val="000000"/>
                </a:solidFill>
                <a:latin typeface="Poppins"/>
                <a:ea typeface="Poppins"/>
                <a:cs typeface="Poppins"/>
                <a:sym typeface="Poppins"/>
              </a:rPr>
              <a:t>Roll No: B21120206042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2099831"/>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Introduction</a:t>
            </a:r>
          </a:p>
        </p:txBody>
      </p:sp>
      <p:sp>
        <p:nvSpPr>
          <p:cNvPr name="TextBox 8" id="8"/>
          <p:cNvSpPr txBox="true"/>
          <p:nvPr/>
        </p:nvSpPr>
        <p:spPr>
          <a:xfrm rot="0">
            <a:off x="1335298" y="3922187"/>
            <a:ext cx="14810532" cy="1240155"/>
          </a:xfrm>
          <a:prstGeom prst="rect">
            <a:avLst/>
          </a:prstGeom>
        </p:spPr>
        <p:txBody>
          <a:bodyPr anchor="t" rtlCol="false" tIns="0" lIns="0" bIns="0" rIns="0">
            <a:spAutoFit/>
          </a:bodyPr>
          <a:lstStyle/>
          <a:p>
            <a:pPr algn="l" marL="388618" indent="-194309" lvl="1">
              <a:lnSpc>
                <a:spcPts val="2519"/>
              </a:lnSpc>
              <a:buFont typeface="Arial"/>
              <a:buChar char="•"/>
            </a:pPr>
            <a:r>
              <a:rPr lang="en-US" sz="1799" spc="-71">
                <a:solidFill>
                  <a:srgbClr val="000000"/>
                </a:solidFill>
                <a:latin typeface="Canva Sans"/>
                <a:ea typeface="Canva Sans"/>
                <a:cs typeface="Canva Sans"/>
                <a:sym typeface="Canva Sans"/>
              </a:rPr>
              <a:t>This project undertakes a comprehensive analysis of financial data from the BIST (Borsa Istanbul) dataset.</a:t>
            </a:r>
          </a:p>
          <a:p>
            <a:pPr algn="l" marL="388618" indent="-194309" lvl="1">
              <a:lnSpc>
                <a:spcPts val="2519"/>
              </a:lnSpc>
              <a:buFont typeface="Arial"/>
              <a:buChar char="•"/>
            </a:pPr>
            <a:r>
              <a:rPr lang="en-US" sz="1799" spc="-71">
                <a:solidFill>
                  <a:srgbClr val="000000"/>
                </a:solidFill>
                <a:latin typeface="Canva Sans"/>
                <a:ea typeface="Canva Sans"/>
                <a:cs typeface="Canva Sans"/>
                <a:sym typeface="Canva Sans"/>
              </a:rPr>
              <a:t>The core aim is to apply various data science and quantitative finance techniques to extract meaningful insights, assess risk, and model financial performance.</a:t>
            </a:r>
          </a:p>
          <a:p>
            <a:pPr algn="l">
              <a:lnSpc>
                <a:spcPts val="2519"/>
              </a:lnSpc>
            </a:pPr>
          </a:p>
        </p:txBody>
      </p:sp>
      <p:sp>
        <p:nvSpPr>
          <p:cNvPr name="Freeform 9" id="9"/>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993431" y="3287822"/>
            <a:ext cx="9177327" cy="405765"/>
          </a:xfrm>
          <a:prstGeom prst="rect">
            <a:avLst/>
          </a:prstGeom>
        </p:spPr>
        <p:txBody>
          <a:bodyPr anchor="t" rtlCol="false" tIns="0" lIns="0" bIns="0" rIns="0">
            <a:spAutoFit/>
          </a:bodyPr>
          <a:lstStyle/>
          <a:p>
            <a:pPr algn="l">
              <a:lnSpc>
                <a:spcPts val="3359"/>
              </a:lnSpc>
            </a:pPr>
            <a:r>
              <a:rPr lang="en-US" sz="2400" spc="-96" b="true">
                <a:solidFill>
                  <a:srgbClr val="000000"/>
                </a:solidFill>
                <a:latin typeface="Open Sauce Bold"/>
                <a:ea typeface="Open Sauce Bold"/>
                <a:cs typeface="Open Sauce Bold"/>
                <a:sym typeface="Open Sauce Bold"/>
              </a:rPr>
              <a:t>Overview:</a:t>
            </a:r>
          </a:p>
        </p:txBody>
      </p:sp>
      <p:sp>
        <p:nvSpPr>
          <p:cNvPr name="TextBox 11" id="11"/>
          <p:cNvSpPr txBox="true"/>
          <p:nvPr/>
        </p:nvSpPr>
        <p:spPr>
          <a:xfrm rot="0">
            <a:off x="1028700" y="5290556"/>
            <a:ext cx="9177327" cy="405765"/>
          </a:xfrm>
          <a:prstGeom prst="rect">
            <a:avLst/>
          </a:prstGeom>
        </p:spPr>
        <p:txBody>
          <a:bodyPr anchor="t" rtlCol="false" tIns="0" lIns="0" bIns="0" rIns="0">
            <a:spAutoFit/>
          </a:bodyPr>
          <a:lstStyle/>
          <a:p>
            <a:pPr algn="l">
              <a:lnSpc>
                <a:spcPts val="3359"/>
              </a:lnSpc>
            </a:pPr>
            <a:r>
              <a:rPr lang="en-US" sz="2400" spc="-96" b="true">
                <a:solidFill>
                  <a:srgbClr val="000000"/>
                </a:solidFill>
                <a:latin typeface="Open Sauce Bold"/>
                <a:ea typeface="Open Sauce Bold"/>
                <a:cs typeface="Open Sauce Bold"/>
                <a:sym typeface="Open Sauce Bold"/>
              </a:rPr>
              <a:t>Key </a:t>
            </a:r>
            <a:r>
              <a:rPr lang="en-US" sz="2400" spc="-96" b="true">
                <a:solidFill>
                  <a:srgbClr val="000000"/>
                </a:solidFill>
                <a:latin typeface="Open Sauce Bold"/>
                <a:ea typeface="Open Sauce Bold"/>
                <a:cs typeface="Open Sauce Bold"/>
                <a:sym typeface="Open Sauce Bold"/>
              </a:rPr>
              <a:t>Objectives:</a:t>
            </a:r>
          </a:p>
        </p:txBody>
      </p:sp>
      <p:sp>
        <p:nvSpPr>
          <p:cNvPr name="TextBox 12" id="12"/>
          <p:cNvSpPr txBox="true"/>
          <p:nvPr/>
        </p:nvSpPr>
        <p:spPr>
          <a:xfrm rot="0">
            <a:off x="1294320" y="6042976"/>
            <a:ext cx="14851510" cy="1868805"/>
          </a:xfrm>
          <a:prstGeom prst="rect">
            <a:avLst/>
          </a:prstGeom>
        </p:spPr>
        <p:txBody>
          <a:bodyPr anchor="t" rtlCol="false" tIns="0" lIns="0" bIns="0" rIns="0">
            <a:spAutoFit/>
          </a:bodyPr>
          <a:lstStyle/>
          <a:p>
            <a:pPr algn="l" marL="388618" indent="-194309" lvl="1">
              <a:lnSpc>
                <a:spcPts val="2519"/>
              </a:lnSpc>
              <a:buFont typeface="Arial"/>
              <a:buChar char="•"/>
            </a:pPr>
            <a:r>
              <a:rPr lang="en-US" sz="1799" spc="-71">
                <a:solidFill>
                  <a:srgbClr val="000000"/>
                </a:solidFill>
                <a:latin typeface="Canva Sans"/>
                <a:ea typeface="Canva Sans"/>
                <a:cs typeface="Canva Sans"/>
                <a:sym typeface="Canva Sans"/>
              </a:rPr>
              <a:t>Ex</a:t>
            </a:r>
            <a:r>
              <a:rPr lang="en-US" sz="1799" spc="-71">
                <a:solidFill>
                  <a:srgbClr val="000000"/>
                </a:solidFill>
                <a:latin typeface="Canva Sans"/>
                <a:ea typeface="Canva Sans"/>
                <a:cs typeface="Canva Sans"/>
                <a:sym typeface="Canva Sans"/>
              </a:rPr>
              <a:t>plore &amp; Visualize: Uncover relationships and trends within the financial metrics.</a:t>
            </a:r>
          </a:p>
          <a:p>
            <a:pPr algn="l" marL="388618" indent="-194309" lvl="1">
              <a:lnSpc>
                <a:spcPts val="2519"/>
              </a:lnSpc>
              <a:buFont typeface="Arial"/>
              <a:buChar char="•"/>
            </a:pPr>
            <a:r>
              <a:rPr lang="en-US" sz="1799" spc="-71">
                <a:solidFill>
                  <a:srgbClr val="000000"/>
                </a:solidFill>
                <a:latin typeface="Canva Sans"/>
                <a:ea typeface="Canva Sans"/>
                <a:cs typeface="Canva Sans"/>
                <a:sym typeface="Canva Sans"/>
              </a:rPr>
              <a:t>Predict &amp; Forecast: Develop models for revenue prediction (both as a stock price proxy and directly) and forecast future revenue streams.</a:t>
            </a:r>
          </a:p>
          <a:p>
            <a:pPr algn="l" marL="388618" indent="-194309" lvl="1">
              <a:lnSpc>
                <a:spcPts val="2519"/>
              </a:lnSpc>
              <a:buFont typeface="Arial"/>
              <a:buChar char="•"/>
            </a:pPr>
            <a:r>
              <a:rPr lang="en-US" sz="1799" spc="-71">
                <a:solidFill>
                  <a:srgbClr val="000000"/>
                </a:solidFill>
                <a:latin typeface="Canva Sans"/>
                <a:ea typeface="Canva Sans"/>
                <a:cs typeface="Canva Sans"/>
                <a:sym typeface="Canva Sans"/>
              </a:rPr>
              <a:t>Assess Risk: Implement credit risk models to identify potential company defaults.</a:t>
            </a:r>
          </a:p>
          <a:p>
            <a:pPr algn="l" marL="388618" indent="-194309" lvl="1">
              <a:lnSpc>
                <a:spcPts val="2519"/>
              </a:lnSpc>
              <a:buFont typeface="Arial"/>
              <a:buChar char="•"/>
            </a:pPr>
            <a:r>
              <a:rPr lang="en-US" sz="1799" spc="-71">
                <a:solidFill>
                  <a:srgbClr val="000000"/>
                </a:solidFill>
                <a:latin typeface="Canva Sans"/>
                <a:ea typeface="Canva Sans"/>
                <a:cs typeface="Canva Sans"/>
                <a:sym typeface="Canva Sans"/>
              </a:rPr>
              <a:t>Valuation &amp; Simulation: Apply standard financial engineering models for option pricing and stock price simulation.</a:t>
            </a:r>
          </a:p>
          <a:p>
            <a:pPr algn="l">
              <a:lnSpc>
                <a:spcPts val="2519"/>
              </a:lnSpc>
            </a:pPr>
          </a:p>
          <a:p>
            <a:pPr algn="l">
              <a:lnSpc>
                <a:spcPts val="2519"/>
              </a:lnSpc>
            </a:pPr>
            <a:r>
              <a:rPr lang="en-US" sz="1799" spc="-71">
                <a:solidFill>
                  <a:srgbClr val="000000"/>
                </a:solidFill>
                <a:latin typeface="Canva Sans"/>
                <a:ea typeface="Canva Sans"/>
                <a:cs typeface="Canva Sans"/>
                <a:sym typeface="Canva Sans"/>
              </a:rPr>
              <a:t>This project will demonstrate a practical pipeline from raw financial data to actionable analytical output.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descr="Horiz More Icon"/>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190625" y="3159753"/>
            <a:ext cx="16068675" cy="0"/>
          </a:xfrm>
          <a:prstGeom prst="line">
            <a:avLst/>
          </a:prstGeom>
          <a:ln cap="rnd" w="19050">
            <a:solidFill>
              <a:srgbClr val="000000"/>
            </a:solidFill>
            <a:prstDash val="solid"/>
            <a:headEnd type="none" len="sm" w="sm"/>
            <a:tailEnd type="none" len="sm" w="sm"/>
          </a:ln>
        </p:spPr>
      </p:sp>
      <p:grpSp>
        <p:nvGrpSpPr>
          <p:cNvPr name="Group 7" id="7"/>
          <p:cNvGrpSpPr/>
          <p:nvPr/>
        </p:nvGrpSpPr>
        <p:grpSpPr>
          <a:xfrm rot="0">
            <a:off x="1028700" y="2997828"/>
            <a:ext cx="323850" cy="323850"/>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9" id="9"/>
          <p:cNvGrpSpPr/>
          <p:nvPr/>
        </p:nvGrpSpPr>
        <p:grpSpPr>
          <a:xfrm rot="0">
            <a:off x="5317258" y="3035928"/>
            <a:ext cx="323850" cy="323850"/>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11" id="11"/>
          <p:cNvGrpSpPr/>
          <p:nvPr/>
        </p:nvGrpSpPr>
        <p:grpSpPr>
          <a:xfrm rot="0">
            <a:off x="9605817" y="2997828"/>
            <a:ext cx="323850" cy="323850"/>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13" id="13"/>
          <p:cNvGrpSpPr/>
          <p:nvPr/>
        </p:nvGrpSpPr>
        <p:grpSpPr>
          <a:xfrm rot="0">
            <a:off x="13894375" y="3035928"/>
            <a:ext cx="323850" cy="323850"/>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5" id="15"/>
          <p:cNvSpPr txBox="true"/>
          <p:nvPr/>
        </p:nvSpPr>
        <p:spPr>
          <a:xfrm rot="0">
            <a:off x="1028700" y="1000125"/>
            <a:ext cx="16230600" cy="1247775"/>
          </a:xfrm>
          <a:prstGeom prst="rect">
            <a:avLst/>
          </a:prstGeom>
        </p:spPr>
        <p:txBody>
          <a:bodyPr anchor="t" rtlCol="false" tIns="0" lIns="0" bIns="0" rIns="0">
            <a:spAutoFit/>
          </a:bodyPr>
          <a:lstStyle/>
          <a:p>
            <a:pPr algn="l" marL="0" indent="0" lvl="0">
              <a:lnSpc>
                <a:spcPts val="9600"/>
              </a:lnSpc>
              <a:spcBef>
                <a:spcPct val="0"/>
              </a:spcBef>
            </a:pPr>
            <a:r>
              <a:rPr lang="en-US" sz="8000">
                <a:solidFill>
                  <a:srgbClr val="C1FF72"/>
                </a:solidFill>
                <a:latin typeface="Bicubik"/>
                <a:ea typeface="Bicubik"/>
                <a:cs typeface="Bicubik"/>
                <a:sym typeface="Bicubik"/>
              </a:rPr>
              <a:t>methodology</a:t>
            </a:r>
          </a:p>
        </p:txBody>
      </p:sp>
      <p:sp>
        <p:nvSpPr>
          <p:cNvPr name="TextBox 16" id="16"/>
          <p:cNvSpPr txBox="true"/>
          <p:nvPr/>
        </p:nvSpPr>
        <p:spPr>
          <a:xfrm rot="0">
            <a:off x="1028700" y="3578853"/>
            <a:ext cx="3364925" cy="916940"/>
          </a:xfrm>
          <a:prstGeom prst="rect">
            <a:avLst/>
          </a:prstGeom>
        </p:spPr>
        <p:txBody>
          <a:bodyPr anchor="t" rtlCol="false" tIns="0" lIns="0" bIns="0" rIns="0">
            <a:spAutoFit/>
          </a:bodyPr>
          <a:lstStyle/>
          <a:p>
            <a:pPr algn="l" marL="0" indent="0" lvl="0">
              <a:lnSpc>
                <a:spcPts val="3639"/>
              </a:lnSpc>
              <a:spcBef>
                <a:spcPct val="0"/>
              </a:spcBef>
            </a:pPr>
            <a:r>
              <a:rPr lang="en-US" b="true" sz="2799" spc="-111">
                <a:solidFill>
                  <a:srgbClr val="000000"/>
                </a:solidFill>
                <a:latin typeface="Open Sauce Bold"/>
                <a:ea typeface="Open Sauce Bold"/>
                <a:cs typeface="Open Sauce Bold"/>
                <a:sym typeface="Open Sauce Bold"/>
              </a:rPr>
              <a:t> </a:t>
            </a:r>
            <a:r>
              <a:rPr lang="en-US" b="true" sz="2799" spc="-111">
                <a:solidFill>
                  <a:srgbClr val="000000"/>
                </a:solidFill>
                <a:latin typeface="Open Sauce Bold"/>
                <a:ea typeface="Open Sauce Bold"/>
                <a:cs typeface="Open Sauce Bold"/>
                <a:sym typeface="Open Sauce Bold"/>
              </a:rPr>
              <a:t>Data Impo</a:t>
            </a:r>
            <a:r>
              <a:rPr lang="en-US" b="true" sz="2799" spc="-111">
                <a:solidFill>
                  <a:srgbClr val="000000"/>
                </a:solidFill>
                <a:latin typeface="Open Sauce Bold"/>
                <a:ea typeface="Open Sauce Bold"/>
                <a:cs typeface="Open Sauce Bold"/>
                <a:sym typeface="Open Sauce Bold"/>
              </a:rPr>
              <a:t>rt and Preparation:</a:t>
            </a:r>
          </a:p>
        </p:txBody>
      </p:sp>
      <p:sp>
        <p:nvSpPr>
          <p:cNvPr name="TextBox 17" id="17"/>
          <p:cNvSpPr txBox="true"/>
          <p:nvPr/>
        </p:nvSpPr>
        <p:spPr>
          <a:xfrm rot="0">
            <a:off x="1028700" y="4905368"/>
            <a:ext cx="3364925" cy="3656965"/>
          </a:xfrm>
          <a:prstGeom prst="rect">
            <a:avLst/>
          </a:prstGeom>
        </p:spPr>
        <p:txBody>
          <a:bodyPr anchor="t" rtlCol="false" tIns="0" lIns="0" bIns="0" rIns="0">
            <a:spAutoFit/>
          </a:bodyPr>
          <a:lstStyle/>
          <a:p>
            <a:pPr algn="l" marL="410211" indent="-205106" lvl="1">
              <a:lnSpc>
                <a:spcPts val="2660"/>
              </a:lnSpc>
              <a:spcBef>
                <a:spcPct val="0"/>
              </a:spcBef>
              <a:buFont typeface="Arial"/>
              <a:buChar char="•"/>
            </a:pPr>
            <a:r>
              <a:rPr lang="en-US" sz="1900" spc="-76">
                <a:solidFill>
                  <a:srgbClr val="737373"/>
                </a:solidFill>
                <a:latin typeface="Canva Sans"/>
                <a:ea typeface="Canva Sans"/>
                <a:cs typeface="Canva Sans"/>
                <a:sym typeface="Canva Sans"/>
              </a:rPr>
              <a:t>Import Libra</a:t>
            </a:r>
            <a:r>
              <a:rPr lang="en-US" sz="1900" spc="-76" u="none">
                <a:solidFill>
                  <a:srgbClr val="737373"/>
                </a:solidFill>
                <a:latin typeface="Canva Sans"/>
                <a:ea typeface="Canva Sans"/>
                <a:cs typeface="Canva Sans"/>
                <a:sym typeface="Canva Sans"/>
              </a:rPr>
              <a:t>ries:</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Pandas</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NumPy </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Matplotlib</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Seaborn</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Scikit-learn</a:t>
            </a:r>
          </a:p>
          <a:p>
            <a:pPr algn="l" marL="410211" indent="-205106" lvl="1">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Load Data:</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Read CSV file: BIST_financial_data.csv</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Clean Data (drop NaN)</a:t>
            </a:r>
          </a:p>
          <a:p>
            <a:pPr algn="l" marL="0" indent="0" lvl="0">
              <a:lnSpc>
                <a:spcPts val="2660"/>
              </a:lnSpc>
              <a:spcBef>
                <a:spcPct val="0"/>
              </a:spcBef>
            </a:pPr>
          </a:p>
        </p:txBody>
      </p:sp>
      <p:sp>
        <p:nvSpPr>
          <p:cNvPr name="TextBox 18" id="18"/>
          <p:cNvSpPr txBox="true"/>
          <p:nvPr/>
        </p:nvSpPr>
        <p:spPr>
          <a:xfrm rot="0">
            <a:off x="5317258" y="3578853"/>
            <a:ext cx="3364925" cy="916940"/>
          </a:xfrm>
          <a:prstGeom prst="rect">
            <a:avLst/>
          </a:prstGeom>
        </p:spPr>
        <p:txBody>
          <a:bodyPr anchor="t" rtlCol="false" tIns="0" lIns="0" bIns="0" rIns="0">
            <a:spAutoFit/>
          </a:bodyPr>
          <a:lstStyle/>
          <a:p>
            <a:pPr algn="l" marL="0" indent="0" lvl="0">
              <a:lnSpc>
                <a:spcPts val="3639"/>
              </a:lnSpc>
              <a:spcBef>
                <a:spcPct val="0"/>
              </a:spcBef>
            </a:pPr>
            <a:r>
              <a:rPr lang="en-US" b="true" sz="2799" spc="-111">
                <a:solidFill>
                  <a:srgbClr val="000000"/>
                </a:solidFill>
                <a:latin typeface="Open Sauce Bold"/>
                <a:ea typeface="Open Sauce Bold"/>
                <a:cs typeface="Open Sauce Bold"/>
                <a:sym typeface="Open Sauce Bold"/>
              </a:rPr>
              <a:t>Explo</a:t>
            </a:r>
            <a:r>
              <a:rPr lang="en-US" b="true" sz="2799" spc="-111">
                <a:solidFill>
                  <a:srgbClr val="000000"/>
                </a:solidFill>
                <a:latin typeface="Open Sauce Bold"/>
                <a:ea typeface="Open Sauce Bold"/>
                <a:cs typeface="Open Sauce Bold"/>
                <a:sym typeface="Open Sauce Bold"/>
              </a:rPr>
              <a:t>ratory Data Analysis (EDA)</a:t>
            </a:r>
          </a:p>
        </p:txBody>
      </p:sp>
      <p:sp>
        <p:nvSpPr>
          <p:cNvPr name="TextBox 19" id="19"/>
          <p:cNvSpPr txBox="true"/>
          <p:nvPr/>
        </p:nvSpPr>
        <p:spPr>
          <a:xfrm rot="0">
            <a:off x="5317258" y="4905368"/>
            <a:ext cx="3364925" cy="1323340"/>
          </a:xfrm>
          <a:prstGeom prst="rect">
            <a:avLst/>
          </a:prstGeom>
        </p:spPr>
        <p:txBody>
          <a:bodyPr anchor="t" rtlCol="false" tIns="0" lIns="0" bIns="0" rIns="0">
            <a:spAutoFit/>
          </a:bodyPr>
          <a:lstStyle/>
          <a:p>
            <a:pPr algn="l" marL="410211" indent="-205106" lvl="1">
              <a:lnSpc>
                <a:spcPts val="2660"/>
              </a:lnSpc>
              <a:spcBef>
                <a:spcPct val="0"/>
              </a:spcBef>
              <a:buFont typeface="Arial"/>
              <a:buChar char="•"/>
            </a:pPr>
            <a:r>
              <a:rPr lang="en-US" sz="1900" spc="-76">
                <a:solidFill>
                  <a:srgbClr val="737373"/>
                </a:solidFill>
                <a:latin typeface="Canva Sans"/>
                <a:ea typeface="Canva Sans"/>
                <a:cs typeface="Canva Sans"/>
                <a:sym typeface="Canva Sans"/>
              </a:rPr>
              <a:t>Ca</a:t>
            </a:r>
            <a:r>
              <a:rPr lang="en-US" sz="1900" spc="-76" u="none">
                <a:solidFill>
                  <a:srgbClr val="737373"/>
                </a:solidFill>
                <a:latin typeface="Canva Sans"/>
                <a:ea typeface="Canva Sans"/>
                <a:cs typeface="Canva Sans"/>
                <a:sym typeface="Canva Sans"/>
              </a:rPr>
              <a:t>lculate Correlation Matrix:</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Generate Heatmap</a:t>
            </a:r>
          </a:p>
          <a:p>
            <a:pPr algn="l" marL="0" indent="0" lvl="0">
              <a:lnSpc>
                <a:spcPts val="2660"/>
              </a:lnSpc>
              <a:spcBef>
                <a:spcPct val="0"/>
              </a:spcBef>
            </a:pPr>
          </a:p>
        </p:txBody>
      </p:sp>
      <p:sp>
        <p:nvSpPr>
          <p:cNvPr name="TextBox 20" id="20"/>
          <p:cNvSpPr txBox="true"/>
          <p:nvPr/>
        </p:nvSpPr>
        <p:spPr>
          <a:xfrm rot="0">
            <a:off x="9605817" y="3578853"/>
            <a:ext cx="3364925" cy="916940"/>
          </a:xfrm>
          <a:prstGeom prst="rect">
            <a:avLst/>
          </a:prstGeom>
        </p:spPr>
        <p:txBody>
          <a:bodyPr anchor="t" rtlCol="false" tIns="0" lIns="0" bIns="0" rIns="0">
            <a:spAutoFit/>
          </a:bodyPr>
          <a:lstStyle/>
          <a:p>
            <a:pPr algn="l">
              <a:lnSpc>
                <a:spcPts val="3639"/>
              </a:lnSpc>
            </a:pPr>
            <a:r>
              <a:rPr lang="en-US" sz="2799" spc="-111" b="true">
                <a:solidFill>
                  <a:srgbClr val="000000"/>
                </a:solidFill>
                <a:latin typeface="Open Sauce Bold"/>
                <a:ea typeface="Open Sauce Bold"/>
                <a:cs typeface="Open Sauce Bold"/>
                <a:sym typeface="Open Sauce Bold"/>
              </a:rPr>
              <a:t>Fea</a:t>
            </a:r>
            <a:r>
              <a:rPr lang="en-US" b="true" sz="2799" spc="-111">
                <a:solidFill>
                  <a:srgbClr val="000000"/>
                </a:solidFill>
                <a:latin typeface="Open Sauce Bold"/>
                <a:ea typeface="Open Sauce Bold"/>
                <a:cs typeface="Open Sauce Bold"/>
                <a:sym typeface="Open Sauce Bold"/>
              </a:rPr>
              <a:t>ture</a:t>
            </a:r>
          </a:p>
          <a:p>
            <a:pPr algn="l" marL="0" indent="0" lvl="0">
              <a:lnSpc>
                <a:spcPts val="3639"/>
              </a:lnSpc>
              <a:spcBef>
                <a:spcPct val="0"/>
              </a:spcBef>
            </a:pPr>
            <a:r>
              <a:rPr lang="en-US" b="true" sz="2799" spc="-111">
                <a:solidFill>
                  <a:srgbClr val="000000"/>
                </a:solidFill>
                <a:latin typeface="Open Sauce Bold"/>
                <a:ea typeface="Open Sauce Bold"/>
                <a:cs typeface="Open Sauce Bold"/>
                <a:sym typeface="Open Sauce Bold"/>
              </a:rPr>
              <a:t> Engineering</a:t>
            </a:r>
          </a:p>
        </p:txBody>
      </p:sp>
      <p:sp>
        <p:nvSpPr>
          <p:cNvPr name="TextBox 21" id="21"/>
          <p:cNvSpPr txBox="true"/>
          <p:nvPr/>
        </p:nvSpPr>
        <p:spPr>
          <a:xfrm rot="0">
            <a:off x="9606108" y="4905368"/>
            <a:ext cx="3364925" cy="1656715"/>
          </a:xfrm>
          <a:prstGeom prst="rect">
            <a:avLst/>
          </a:prstGeom>
        </p:spPr>
        <p:txBody>
          <a:bodyPr anchor="t" rtlCol="false" tIns="0" lIns="0" bIns="0" rIns="0">
            <a:spAutoFit/>
          </a:bodyPr>
          <a:lstStyle/>
          <a:p>
            <a:pPr algn="l" marL="410211" indent="-205106" lvl="1">
              <a:lnSpc>
                <a:spcPts val="2660"/>
              </a:lnSpc>
              <a:spcBef>
                <a:spcPct val="0"/>
              </a:spcBef>
              <a:buFont typeface="Arial"/>
              <a:buChar char="•"/>
            </a:pPr>
            <a:r>
              <a:rPr lang="en-US" sz="1900" spc="-76">
                <a:solidFill>
                  <a:srgbClr val="737373"/>
                </a:solidFill>
                <a:latin typeface="Canva Sans"/>
                <a:ea typeface="Canva Sans"/>
                <a:cs typeface="Canva Sans"/>
                <a:sym typeface="Canva Sans"/>
              </a:rPr>
              <a:t>G</a:t>
            </a:r>
            <a:r>
              <a:rPr lang="en-US" sz="1900" spc="-76" u="none">
                <a:solidFill>
                  <a:srgbClr val="737373"/>
                </a:solidFill>
                <a:latin typeface="Canva Sans"/>
                <a:ea typeface="Canva Sans"/>
                <a:cs typeface="Canva Sans"/>
                <a:sym typeface="Canva Sans"/>
              </a:rPr>
              <a:t>roup Data by Company</a:t>
            </a:r>
          </a:p>
          <a:p>
            <a:pPr algn="l" marL="410211" indent="-205106" lvl="1">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Create new features:</a:t>
            </a:r>
          </a:p>
          <a:p>
            <a:pPr algn="l" marL="820422" indent="-273474" lvl="2">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Default Risk Calculation</a:t>
            </a:r>
          </a:p>
          <a:p>
            <a:pPr algn="l" marL="410211" indent="-205106" lvl="1">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Drop unnecessary columns</a:t>
            </a:r>
          </a:p>
          <a:p>
            <a:pPr algn="l" marL="0" indent="0" lvl="0">
              <a:lnSpc>
                <a:spcPts val="2660"/>
              </a:lnSpc>
              <a:spcBef>
                <a:spcPct val="0"/>
              </a:spcBef>
            </a:pPr>
          </a:p>
        </p:txBody>
      </p:sp>
      <p:sp>
        <p:nvSpPr>
          <p:cNvPr name="TextBox 22" id="22"/>
          <p:cNvSpPr txBox="true"/>
          <p:nvPr/>
        </p:nvSpPr>
        <p:spPr>
          <a:xfrm rot="0">
            <a:off x="13894375" y="3592950"/>
            <a:ext cx="3364925" cy="916940"/>
          </a:xfrm>
          <a:prstGeom prst="rect">
            <a:avLst/>
          </a:prstGeom>
        </p:spPr>
        <p:txBody>
          <a:bodyPr anchor="t" rtlCol="false" tIns="0" lIns="0" bIns="0" rIns="0">
            <a:spAutoFit/>
          </a:bodyPr>
          <a:lstStyle/>
          <a:p>
            <a:pPr algn="l">
              <a:lnSpc>
                <a:spcPts val="3639"/>
              </a:lnSpc>
            </a:pPr>
            <a:r>
              <a:rPr lang="en-US" sz="2799" spc="-111" b="true">
                <a:solidFill>
                  <a:srgbClr val="000000"/>
                </a:solidFill>
                <a:latin typeface="Open Sauce Bold"/>
                <a:ea typeface="Open Sauce Bold"/>
                <a:cs typeface="Open Sauce Bold"/>
                <a:sym typeface="Open Sauce Bold"/>
              </a:rPr>
              <a:t>Da</a:t>
            </a:r>
            <a:r>
              <a:rPr lang="en-US" b="true" sz="2799" spc="-111">
                <a:solidFill>
                  <a:srgbClr val="000000"/>
                </a:solidFill>
                <a:latin typeface="Open Sauce Bold"/>
                <a:ea typeface="Open Sauce Bold"/>
                <a:cs typeface="Open Sauce Bold"/>
                <a:sym typeface="Open Sauce Bold"/>
              </a:rPr>
              <a:t>ta </a:t>
            </a:r>
          </a:p>
          <a:p>
            <a:pPr algn="l" marL="0" indent="0" lvl="0">
              <a:lnSpc>
                <a:spcPts val="3639"/>
              </a:lnSpc>
              <a:spcBef>
                <a:spcPct val="0"/>
              </a:spcBef>
            </a:pPr>
            <a:r>
              <a:rPr lang="en-US" b="true" sz="2799" spc="-111">
                <a:solidFill>
                  <a:srgbClr val="000000"/>
                </a:solidFill>
                <a:latin typeface="Open Sauce Bold"/>
                <a:ea typeface="Open Sauce Bold"/>
                <a:cs typeface="Open Sauce Bold"/>
                <a:sym typeface="Open Sauce Bold"/>
              </a:rPr>
              <a:t>Visualization</a:t>
            </a:r>
          </a:p>
        </p:txBody>
      </p:sp>
      <p:sp>
        <p:nvSpPr>
          <p:cNvPr name="TextBox 23" id="23"/>
          <p:cNvSpPr txBox="true"/>
          <p:nvPr/>
        </p:nvSpPr>
        <p:spPr>
          <a:xfrm rot="0">
            <a:off x="13894375" y="4928990"/>
            <a:ext cx="3364925" cy="2323465"/>
          </a:xfrm>
          <a:prstGeom prst="rect">
            <a:avLst/>
          </a:prstGeom>
        </p:spPr>
        <p:txBody>
          <a:bodyPr anchor="t" rtlCol="false" tIns="0" lIns="0" bIns="0" rIns="0">
            <a:spAutoFit/>
          </a:bodyPr>
          <a:lstStyle/>
          <a:p>
            <a:pPr algn="l" marL="410211" indent="-205106" lvl="1">
              <a:lnSpc>
                <a:spcPts val="2660"/>
              </a:lnSpc>
              <a:spcBef>
                <a:spcPct val="0"/>
              </a:spcBef>
              <a:buFont typeface="Arial"/>
              <a:buChar char="•"/>
            </a:pPr>
            <a:r>
              <a:rPr lang="en-US" sz="1900" spc="-76">
                <a:solidFill>
                  <a:srgbClr val="737373"/>
                </a:solidFill>
                <a:latin typeface="Canva Sans"/>
                <a:ea typeface="Canva Sans"/>
                <a:cs typeface="Canva Sans"/>
                <a:sym typeface="Canva Sans"/>
              </a:rPr>
              <a:t>L</a:t>
            </a:r>
            <a:r>
              <a:rPr lang="en-US" sz="1900" spc="-76" u="none">
                <a:solidFill>
                  <a:srgbClr val="737373"/>
                </a:solidFill>
                <a:latin typeface="Canva Sans"/>
                <a:ea typeface="Canva Sans"/>
                <a:cs typeface="Canva Sans"/>
                <a:sym typeface="Canva Sans"/>
              </a:rPr>
              <a:t>ine Plot (Revenue Trend)</a:t>
            </a:r>
          </a:p>
          <a:p>
            <a:pPr algn="l" marL="410211" indent="-205106" lvl="1">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Bar Chart (Top Companies by Revenue)</a:t>
            </a:r>
          </a:p>
          <a:p>
            <a:pPr algn="l" marL="410211" indent="-205106" lvl="1">
              <a:lnSpc>
                <a:spcPts val="2660"/>
              </a:lnSpc>
              <a:spcBef>
                <a:spcPct val="0"/>
              </a:spcBef>
              <a:buFont typeface="Arial"/>
              <a:buChar char="•"/>
            </a:pPr>
            <a:r>
              <a:rPr lang="en-US" sz="1900" spc="-76" u="none">
                <a:solidFill>
                  <a:srgbClr val="737373"/>
                </a:solidFill>
                <a:latin typeface="Canva Sans"/>
                <a:ea typeface="Canva Sans"/>
                <a:cs typeface="Canva Sans"/>
                <a:sym typeface="Canva Sans"/>
              </a:rPr>
              <a:t>Scatter Plot (Revenue vs Net Profit)</a:t>
            </a:r>
          </a:p>
          <a:p>
            <a:pPr algn="l">
              <a:lnSpc>
                <a:spcPts val="2660"/>
              </a:lnSpc>
              <a:spcBef>
                <a:spcPct val="0"/>
              </a:spcBef>
            </a:pPr>
          </a:p>
          <a:p>
            <a:pPr algn="l" marL="0" indent="0" lvl="0">
              <a:lnSpc>
                <a:spcPts val="2660"/>
              </a:lnSpc>
              <a:spcBef>
                <a:spcPct val="0"/>
              </a:spcBef>
            </a:pPr>
          </a:p>
        </p:txBody>
      </p:sp>
      <p:sp>
        <p:nvSpPr>
          <p:cNvPr name="Freeform 24" id="24"/>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descr="Horiz More Icon"/>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190625" y="3159753"/>
            <a:ext cx="16068675" cy="0"/>
          </a:xfrm>
          <a:prstGeom prst="line">
            <a:avLst/>
          </a:prstGeom>
          <a:ln cap="rnd" w="19050">
            <a:solidFill>
              <a:srgbClr val="000000"/>
            </a:solidFill>
            <a:prstDash val="solid"/>
            <a:headEnd type="none" len="sm" w="sm"/>
            <a:tailEnd type="none" len="sm" w="sm"/>
          </a:ln>
        </p:spPr>
      </p:sp>
      <p:grpSp>
        <p:nvGrpSpPr>
          <p:cNvPr name="Group 7" id="7"/>
          <p:cNvGrpSpPr/>
          <p:nvPr/>
        </p:nvGrpSpPr>
        <p:grpSpPr>
          <a:xfrm rot="0">
            <a:off x="1028700" y="2997828"/>
            <a:ext cx="323850" cy="323850"/>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9" id="9"/>
          <p:cNvGrpSpPr/>
          <p:nvPr/>
        </p:nvGrpSpPr>
        <p:grpSpPr>
          <a:xfrm rot="0">
            <a:off x="5317258" y="3035928"/>
            <a:ext cx="323850" cy="323850"/>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11" id="11"/>
          <p:cNvGrpSpPr/>
          <p:nvPr/>
        </p:nvGrpSpPr>
        <p:grpSpPr>
          <a:xfrm rot="0">
            <a:off x="9605817" y="2997828"/>
            <a:ext cx="323850" cy="323850"/>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13" id="13"/>
          <p:cNvGrpSpPr/>
          <p:nvPr/>
        </p:nvGrpSpPr>
        <p:grpSpPr>
          <a:xfrm rot="0">
            <a:off x="13894375" y="3035928"/>
            <a:ext cx="323850" cy="323850"/>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5" id="15"/>
          <p:cNvSpPr txBox="true"/>
          <p:nvPr/>
        </p:nvSpPr>
        <p:spPr>
          <a:xfrm rot="0">
            <a:off x="1028700" y="1000125"/>
            <a:ext cx="16230600" cy="1247775"/>
          </a:xfrm>
          <a:prstGeom prst="rect">
            <a:avLst/>
          </a:prstGeom>
        </p:spPr>
        <p:txBody>
          <a:bodyPr anchor="t" rtlCol="false" tIns="0" lIns="0" bIns="0" rIns="0">
            <a:spAutoFit/>
          </a:bodyPr>
          <a:lstStyle/>
          <a:p>
            <a:pPr algn="l" marL="0" indent="0" lvl="0">
              <a:lnSpc>
                <a:spcPts val="9600"/>
              </a:lnSpc>
              <a:spcBef>
                <a:spcPct val="0"/>
              </a:spcBef>
            </a:pPr>
            <a:r>
              <a:rPr lang="en-US" sz="8000">
                <a:solidFill>
                  <a:srgbClr val="C1FF72"/>
                </a:solidFill>
                <a:latin typeface="Bicubik"/>
                <a:ea typeface="Bicubik"/>
                <a:cs typeface="Bicubik"/>
                <a:sym typeface="Bicubik"/>
              </a:rPr>
              <a:t>methodology</a:t>
            </a:r>
          </a:p>
        </p:txBody>
      </p:sp>
      <p:sp>
        <p:nvSpPr>
          <p:cNvPr name="TextBox 16" id="16"/>
          <p:cNvSpPr txBox="true"/>
          <p:nvPr/>
        </p:nvSpPr>
        <p:spPr>
          <a:xfrm rot="0">
            <a:off x="1028700" y="3578853"/>
            <a:ext cx="3364925" cy="916940"/>
          </a:xfrm>
          <a:prstGeom prst="rect">
            <a:avLst/>
          </a:prstGeom>
        </p:spPr>
        <p:txBody>
          <a:bodyPr anchor="t" rtlCol="false" tIns="0" lIns="0" bIns="0" rIns="0">
            <a:spAutoFit/>
          </a:bodyPr>
          <a:lstStyle/>
          <a:p>
            <a:pPr algn="l">
              <a:lnSpc>
                <a:spcPts val="3639"/>
              </a:lnSpc>
              <a:spcBef>
                <a:spcPct val="0"/>
              </a:spcBef>
            </a:pPr>
            <a:r>
              <a:rPr lang="en-US" b="true" sz="2799" spc="-111">
                <a:solidFill>
                  <a:srgbClr val="000000"/>
                </a:solidFill>
                <a:latin typeface="Open Sauce Bold"/>
                <a:ea typeface="Open Sauce Bold"/>
                <a:cs typeface="Open Sauce Bold"/>
                <a:sym typeface="Open Sauce Bold"/>
              </a:rPr>
              <a:t>S</a:t>
            </a:r>
            <a:r>
              <a:rPr lang="en-US" b="true" sz="2799" spc="-111">
                <a:solidFill>
                  <a:srgbClr val="000000"/>
                </a:solidFill>
                <a:latin typeface="Open Sauce Bold"/>
                <a:ea typeface="Open Sauce Bold"/>
                <a:cs typeface="Open Sauce Bold"/>
                <a:sym typeface="Open Sauce Bold"/>
              </a:rPr>
              <a:t>tock P</a:t>
            </a:r>
            <a:r>
              <a:rPr lang="en-US" b="true" sz="2799" spc="-111">
                <a:solidFill>
                  <a:srgbClr val="000000"/>
                </a:solidFill>
                <a:latin typeface="Open Sauce Bold"/>
                <a:ea typeface="Open Sauce Bold"/>
                <a:cs typeface="Open Sauce Bold"/>
                <a:sym typeface="Open Sauce Bold"/>
              </a:rPr>
              <a:t>rice Prediction</a:t>
            </a:r>
          </a:p>
        </p:txBody>
      </p:sp>
      <p:sp>
        <p:nvSpPr>
          <p:cNvPr name="TextBox 17" id="17"/>
          <p:cNvSpPr txBox="true"/>
          <p:nvPr/>
        </p:nvSpPr>
        <p:spPr>
          <a:xfrm rot="0">
            <a:off x="1028700" y="4905368"/>
            <a:ext cx="3364925" cy="3656965"/>
          </a:xfrm>
          <a:prstGeom prst="rect">
            <a:avLst/>
          </a:prstGeom>
        </p:spPr>
        <p:txBody>
          <a:bodyPr anchor="t" rtlCol="false" tIns="0" lIns="0" bIns="0" rIns="0">
            <a:spAutoFit/>
          </a:bodyPr>
          <a:lstStyle/>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Prepare Data for Linear Regression</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Train-test split</a:t>
            </a:r>
          </a:p>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Model Creation:</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Fit Linear Regression Model</a:t>
            </a:r>
          </a:p>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Predictions:</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Evaluate with R², RMSE, MAE</a:t>
            </a:r>
          </a:p>
          <a:p>
            <a:pPr algn="l" marL="410211" indent="-205106" lvl="1">
              <a:lnSpc>
                <a:spcPts val="2660"/>
              </a:lnSpc>
              <a:spcBef>
                <a:spcPct val="0"/>
              </a:spcBef>
              <a:buFont typeface="Arial"/>
              <a:buChar char="•"/>
            </a:pPr>
            <a:r>
              <a:rPr lang="en-US" sz="1900" spc="-76">
                <a:solidFill>
                  <a:srgbClr val="737373"/>
                </a:solidFill>
                <a:latin typeface="Canva Sans"/>
                <a:ea typeface="Canva Sans"/>
                <a:cs typeface="Canva Sans"/>
                <a:sym typeface="Canva Sans"/>
              </a:rPr>
              <a:t>Visualize Actual vs Predicted Prices</a:t>
            </a:r>
          </a:p>
        </p:txBody>
      </p:sp>
      <p:sp>
        <p:nvSpPr>
          <p:cNvPr name="TextBox 18" id="18"/>
          <p:cNvSpPr txBox="true"/>
          <p:nvPr/>
        </p:nvSpPr>
        <p:spPr>
          <a:xfrm rot="0">
            <a:off x="5317258" y="3578853"/>
            <a:ext cx="3364925" cy="916940"/>
          </a:xfrm>
          <a:prstGeom prst="rect">
            <a:avLst/>
          </a:prstGeom>
        </p:spPr>
        <p:txBody>
          <a:bodyPr anchor="t" rtlCol="false" tIns="0" lIns="0" bIns="0" rIns="0">
            <a:spAutoFit/>
          </a:bodyPr>
          <a:lstStyle/>
          <a:p>
            <a:pPr algn="l">
              <a:lnSpc>
                <a:spcPts val="3639"/>
              </a:lnSpc>
              <a:spcBef>
                <a:spcPct val="0"/>
              </a:spcBef>
            </a:pPr>
            <a:r>
              <a:rPr lang="en-US" b="true" sz="2799" spc="-111">
                <a:solidFill>
                  <a:srgbClr val="000000"/>
                </a:solidFill>
                <a:latin typeface="Open Sauce Bold"/>
                <a:ea typeface="Open Sauce Bold"/>
                <a:cs typeface="Open Sauce Bold"/>
                <a:sym typeface="Open Sauce Bold"/>
              </a:rPr>
              <a:t>C</a:t>
            </a:r>
            <a:r>
              <a:rPr lang="en-US" b="true" sz="2799" spc="-111">
                <a:solidFill>
                  <a:srgbClr val="000000"/>
                </a:solidFill>
                <a:latin typeface="Open Sauce Bold"/>
                <a:ea typeface="Open Sauce Bold"/>
                <a:cs typeface="Open Sauce Bold"/>
                <a:sym typeface="Open Sauce Bold"/>
              </a:rPr>
              <a:t>redit Risk Modeling</a:t>
            </a:r>
          </a:p>
        </p:txBody>
      </p:sp>
      <p:sp>
        <p:nvSpPr>
          <p:cNvPr name="TextBox 19" id="19"/>
          <p:cNvSpPr txBox="true"/>
          <p:nvPr/>
        </p:nvSpPr>
        <p:spPr>
          <a:xfrm rot="0">
            <a:off x="5317258" y="4905368"/>
            <a:ext cx="3364925" cy="2990215"/>
          </a:xfrm>
          <a:prstGeom prst="rect">
            <a:avLst/>
          </a:prstGeom>
        </p:spPr>
        <p:txBody>
          <a:bodyPr anchor="t" rtlCol="false" tIns="0" lIns="0" bIns="0" rIns="0">
            <a:spAutoFit/>
          </a:bodyPr>
          <a:lstStyle/>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Prepare Data for Classification</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Train-test split</a:t>
            </a:r>
          </a:p>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Logistic Regression Model</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Fit and Predict</a:t>
            </a:r>
          </a:p>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Decision Tree Model</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Fit and Predict</a:t>
            </a:r>
          </a:p>
          <a:p>
            <a:pPr algn="l" marL="410211" indent="-205106" lvl="1">
              <a:lnSpc>
                <a:spcPts val="2660"/>
              </a:lnSpc>
              <a:spcBef>
                <a:spcPct val="0"/>
              </a:spcBef>
              <a:buFont typeface="Arial"/>
              <a:buChar char="•"/>
            </a:pPr>
            <a:r>
              <a:rPr lang="en-US" sz="1900" spc="-76">
                <a:solidFill>
                  <a:srgbClr val="737373"/>
                </a:solidFill>
                <a:latin typeface="Canva Sans"/>
                <a:ea typeface="Canva Sans"/>
                <a:cs typeface="Canva Sans"/>
                <a:sym typeface="Canva Sans"/>
              </a:rPr>
              <a:t>Confusion Matrix Evaluation for Both Models</a:t>
            </a:r>
          </a:p>
        </p:txBody>
      </p:sp>
      <p:sp>
        <p:nvSpPr>
          <p:cNvPr name="TextBox 20" id="20"/>
          <p:cNvSpPr txBox="true"/>
          <p:nvPr/>
        </p:nvSpPr>
        <p:spPr>
          <a:xfrm rot="0">
            <a:off x="9605817" y="3578853"/>
            <a:ext cx="3364925" cy="916940"/>
          </a:xfrm>
          <a:prstGeom prst="rect">
            <a:avLst/>
          </a:prstGeom>
        </p:spPr>
        <p:txBody>
          <a:bodyPr anchor="t" rtlCol="false" tIns="0" lIns="0" bIns="0" rIns="0">
            <a:spAutoFit/>
          </a:bodyPr>
          <a:lstStyle/>
          <a:p>
            <a:pPr algn="l">
              <a:lnSpc>
                <a:spcPts val="3639"/>
              </a:lnSpc>
              <a:spcBef>
                <a:spcPct val="0"/>
              </a:spcBef>
            </a:pPr>
            <a:r>
              <a:rPr lang="en-US" b="true" sz="2799" spc="-111">
                <a:solidFill>
                  <a:srgbClr val="000000"/>
                </a:solidFill>
                <a:latin typeface="Open Sauce Bold"/>
                <a:ea typeface="Open Sauce Bold"/>
                <a:cs typeface="Open Sauce Bold"/>
                <a:sym typeface="Open Sauce Bold"/>
              </a:rPr>
              <a:t>Reven</a:t>
            </a:r>
            <a:r>
              <a:rPr lang="en-US" b="true" sz="2799" spc="-111">
                <a:solidFill>
                  <a:srgbClr val="000000"/>
                </a:solidFill>
                <a:latin typeface="Open Sauce Bold"/>
                <a:ea typeface="Open Sauce Bold"/>
                <a:cs typeface="Open Sauce Bold"/>
                <a:sym typeface="Open Sauce Bold"/>
              </a:rPr>
              <a:t>ue Forecasting</a:t>
            </a:r>
          </a:p>
        </p:txBody>
      </p:sp>
      <p:sp>
        <p:nvSpPr>
          <p:cNvPr name="TextBox 21" id="21"/>
          <p:cNvSpPr txBox="true"/>
          <p:nvPr/>
        </p:nvSpPr>
        <p:spPr>
          <a:xfrm rot="0">
            <a:off x="9606108" y="4905368"/>
            <a:ext cx="3364925" cy="2990215"/>
          </a:xfrm>
          <a:prstGeom prst="rect">
            <a:avLst/>
          </a:prstGeom>
        </p:spPr>
        <p:txBody>
          <a:bodyPr anchor="t" rtlCol="false" tIns="0" lIns="0" bIns="0" rIns="0">
            <a:spAutoFit/>
          </a:bodyPr>
          <a:lstStyle/>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Prepare Revenue Data</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Train-test split</a:t>
            </a:r>
          </a:p>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Fit Linear Regression for Forecasting</a:t>
            </a:r>
          </a:p>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Predictions and Evaluation on Forecasted Revenue</a:t>
            </a:r>
          </a:p>
          <a:p>
            <a:pPr algn="l" marL="410211" indent="-205106" lvl="1">
              <a:lnSpc>
                <a:spcPts val="2660"/>
              </a:lnSpc>
              <a:buFont typeface="Arial"/>
              <a:buChar char="•"/>
            </a:pPr>
            <a:r>
              <a:rPr lang="en-US" sz="1900" spc="-76">
                <a:solidFill>
                  <a:srgbClr val="737373"/>
                </a:solidFill>
                <a:latin typeface="Canva Sans"/>
                <a:ea typeface="Canva Sans"/>
                <a:cs typeface="Canva Sans"/>
                <a:sym typeface="Canva Sans"/>
              </a:rPr>
              <a:t>Visualize Actual vs Predicted Revenue</a:t>
            </a:r>
          </a:p>
          <a:p>
            <a:pPr algn="l" marL="0" indent="0" lvl="0">
              <a:lnSpc>
                <a:spcPts val="2660"/>
              </a:lnSpc>
              <a:spcBef>
                <a:spcPct val="0"/>
              </a:spcBef>
            </a:pPr>
          </a:p>
        </p:txBody>
      </p:sp>
      <p:sp>
        <p:nvSpPr>
          <p:cNvPr name="TextBox 22" id="22"/>
          <p:cNvSpPr txBox="true"/>
          <p:nvPr/>
        </p:nvSpPr>
        <p:spPr>
          <a:xfrm rot="0">
            <a:off x="13894375" y="3592950"/>
            <a:ext cx="3364925" cy="916940"/>
          </a:xfrm>
          <a:prstGeom prst="rect">
            <a:avLst/>
          </a:prstGeom>
        </p:spPr>
        <p:txBody>
          <a:bodyPr anchor="t" rtlCol="false" tIns="0" lIns="0" bIns="0" rIns="0">
            <a:spAutoFit/>
          </a:bodyPr>
          <a:lstStyle/>
          <a:p>
            <a:pPr algn="l" marL="0" indent="0" lvl="0">
              <a:lnSpc>
                <a:spcPts val="3639"/>
              </a:lnSpc>
              <a:spcBef>
                <a:spcPct val="0"/>
              </a:spcBef>
            </a:pPr>
            <a:r>
              <a:rPr lang="en-US" b="true" sz="2799" spc="-111">
                <a:solidFill>
                  <a:srgbClr val="000000"/>
                </a:solidFill>
                <a:latin typeface="Open Sauce Bold"/>
                <a:ea typeface="Open Sauce Bold"/>
                <a:cs typeface="Open Sauce Bold"/>
                <a:sym typeface="Open Sauce Bold"/>
              </a:rPr>
              <a:t>Simula</a:t>
            </a:r>
            <a:r>
              <a:rPr lang="en-US" b="true" sz="2799" spc="-111">
                <a:solidFill>
                  <a:srgbClr val="000000"/>
                </a:solidFill>
                <a:latin typeface="Open Sauce Bold"/>
                <a:ea typeface="Open Sauce Bold"/>
                <a:cs typeface="Open Sauce Bold"/>
                <a:sym typeface="Open Sauce Bold"/>
              </a:rPr>
              <a:t>tions and Financial Models</a:t>
            </a:r>
          </a:p>
        </p:txBody>
      </p:sp>
      <p:sp>
        <p:nvSpPr>
          <p:cNvPr name="TextBox 23" id="23"/>
          <p:cNvSpPr txBox="true"/>
          <p:nvPr/>
        </p:nvSpPr>
        <p:spPr>
          <a:xfrm rot="0">
            <a:off x="13894375" y="4928990"/>
            <a:ext cx="3364925" cy="3656965"/>
          </a:xfrm>
          <a:prstGeom prst="rect">
            <a:avLst/>
          </a:prstGeom>
        </p:spPr>
        <p:txBody>
          <a:bodyPr anchor="t" rtlCol="false" tIns="0" lIns="0" bIns="0" rIns="0">
            <a:spAutoFit/>
          </a:bodyPr>
          <a:lstStyle/>
          <a:p>
            <a:pPr algn="l" marL="410211" indent="-205106" lvl="1">
              <a:lnSpc>
                <a:spcPts val="2660"/>
              </a:lnSpc>
              <a:buFont typeface="Arial"/>
              <a:buChar char="•"/>
            </a:pPr>
            <a:r>
              <a:rPr lang="en-US" b="true" sz="1900" spc="-76">
                <a:solidFill>
                  <a:srgbClr val="737373"/>
                </a:solidFill>
                <a:latin typeface="Canva Sans Medium"/>
                <a:ea typeface="Canva Sans Medium"/>
                <a:cs typeface="Canva Sans Medium"/>
                <a:sym typeface="Canva Sans Medium"/>
              </a:rPr>
              <a:t>Geometric Brownian Motion (GBM) Simulation</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Simulate stock price path</a:t>
            </a:r>
          </a:p>
          <a:p>
            <a:pPr algn="l" marL="410211" indent="-205106" lvl="1">
              <a:lnSpc>
                <a:spcPts val="2660"/>
              </a:lnSpc>
              <a:buFont typeface="Arial"/>
              <a:buChar char="•"/>
            </a:pPr>
            <a:r>
              <a:rPr lang="en-US" b="true" sz="1900" spc="-76">
                <a:solidFill>
                  <a:srgbClr val="737373"/>
                </a:solidFill>
                <a:latin typeface="Canva Sans Medium"/>
                <a:ea typeface="Canva Sans Medium"/>
                <a:cs typeface="Canva Sans Medium"/>
                <a:sym typeface="Canva Sans Medium"/>
              </a:rPr>
              <a:t>Black-Scholes Model</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Calculate Call Option Price</a:t>
            </a:r>
          </a:p>
          <a:p>
            <a:pPr algn="l" marL="410211" indent="-205106" lvl="1">
              <a:lnSpc>
                <a:spcPts val="2660"/>
              </a:lnSpc>
              <a:buFont typeface="Arial"/>
              <a:buChar char="•"/>
            </a:pPr>
            <a:r>
              <a:rPr lang="en-US" b="true" sz="1900" spc="-76">
                <a:solidFill>
                  <a:srgbClr val="737373"/>
                </a:solidFill>
                <a:latin typeface="Canva Sans Medium"/>
                <a:ea typeface="Canva Sans Medium"/>
                <a:cs typeface="Canva Sans Medium"/>
                <a:sym typeface="Canva Sans Medium"/>
              </a:rPr>
              <a:t>Binomial Tree Model</a:t>
            </a:r>
          </a:p>
          <a:p>
            <a:pPr algn="l" marL="820422" indent="-273474" lvl="2">
              <a:lnSpc>
                <a:spcPts val="2660"/>
              </a:lnSpc>
              <a:buFont typeface="Arial"/>
              <a:buChar char="⚬"/>
            </a:pPr>
            <a:r>
              <a:rPr lang="en-US" sz="1900" spc="-76">
                <a:solidFill>
                  <a:srgbClr val="737373"/>
                </a:solidFill>
                <a:latin typeface="Canva Sans"/>
                <a:ea typeface="Canva Sans"/>
                <a:cs typeface="Canva Sans"/>
                <a:sym typeface="Canva Sans"/>
              </a:rPr>
              <a:t>Evaluate Call Option Price</a:t>
            </a:r>
          </a:p>
          <a:p>
            <a:pPr algn="l">
              <a:lnSpc>
                <a:spcPts val="2660"/>
              </a:lnSpc>
              <a:spcBef>
                <a:spcPct val="0"/>
              </a:spcBef>
            </a:pPr>
          </a:p>
        </p:txBody>
      </p:sp>
      <p:sp>
        <p:nvSpPr>
          <p:cNvPr name="Freeform 24" id="24"/>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80729" y="2795998"/>
            <a:ext cx="12526542" cy="4736901"/>
          </a:xfrm>
          <a:custGeom>
            <a:avLst/>
            <a:gdLst/>
            <a:ahLst/>
            <a:cxnLst/>
            <a:rect r="r" b="b" t="t" l="l"/>
            <a:pathLst>
              <a:path h="4736901" w="12526542">
                <a:moveTo>
                  <a:pt x="0" y="0"/>
                </a:moveTo>
                <a:lnTo>
                  <a:pt x="12526542" y="0"/>
                </a:lnTo>
                <a:lnTo>
                  <a:pt x="12526542" y="4736901"/>
                </a:lnTo>
                <a:lnTo>
                  <a:pt x="0" y="4736901"/>
                </a:lnTo>
                <a:lnTo>
                  <a:pt x="0" y="0"/>
                </a:lnTo>
                <a:close/>
              </a:path>
            </a:pathLst>
          </a:custGeom>
          <a:blipFill>
            <a:blip r:embed="rId8"/>
            <a:stretch>
              <a:fillRect l="-446" t="0" r="-446" b="0"/>
            </a:stretch>
          </a:blipFill>
        </p:spPr>
      </p:sp>
      <p:sp>
        <p:nvSpPr>
          <p:cNvPr name="TextBox 9" id="9"/>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CODE WORKFLOW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70583" y="3127044"/>
            <a:ext cx="12546834" cy="4032911"/>
          </a:xfrm>
          <a:custGeom>
            <a:avLst/>
            <a:gdLst/>
            <a:ahLst/>
            <a:cxnLst/>
            <a:rect r="r" b="b" t="t" l="l"/>
            <a:pathLst>
              <a:path h="4032911" w="12546834">
                <a:moveTo>
                  <a:pt x="0" y="0"/>
                </a:moveTo>
                <a:lnTo>
                  <a:pt x="12546834" y="0"/>
                </a:lnTo>
                <a:lnTo>
                  <a:pt x="12546834" y="4032912"/>
                </a:lnTo>
                <a:lnTo>
                  <a:pt x="0" y="4032912"/>
                </a:lnTo>
                <a:lnTo>
                  <a:pt x="0" y="0"/>
                </a:lnTo>
                <a:close/>
              </a:path>
            </a:pathLst>
          </a:custGeom>
          <a:blipFill>
            <a:blip r:embed="rId8"/>
            <a:stretch>
              <a:fillRect l="0" t="0" r="0" b="0"/>
            </a:stretch>
          </a:blipFill>
        </p:spPr>
      </p:sp>
      <p:sp>
        <p:nvSpPr>
          <p:cNvPr name="TextBox 9" id="9"/>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CODE WORKFLOW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014079" y="2938873"/>
            <a:ext cx="12524502" cy="4815607"/>
          </a:xfrm>
          <a:custGeom>
            <a:avLst/>
            <a:gdLst/>
            <a:ahLst/>
            <a:cxnLst/>
            <a:rect r="r" b="b" t="t" l="l"/>
            <a:pathLst>
              <a:path h="4815607" w="12524502">
                <a:moveTo>
                  <a:pt x="0" y="0"/>
                </a:moveTo>
                <a:lnTo>
                  <a:pt x="12524502" y="0"/>
                </a:lnTo>
                <a:lnTo>
                  <a:pt x="12524502" y="4815608"/>
                </a:lnTo>
                <a:lnTo>
                  <a:pt x="0" y="4815608"/>
                </a:lnTo>
                <a:lnTo>
                  <a:pt x="0" y="0"/>
                </a:lnTo>
                <a:close/>
              </a:path>
            </a:pathLst>
          </a:custGeom>
          <a:blipFill>
            <a:blip r:embed="rId8"/>
            <a:stretch>
              <a:fillRect l="0" t="0" r="0" b="0"/>
            </a:stretch>
          </a:blipFill>
        </p:spPr>
      </p:sp>
      <p:sp>
        <p:nvSpPr>
          <p:cNvPr name="TextBox 9" id="9"/>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CODE WORKFLOW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033129" y="2948398"/>
            <a:ext cx="12530617" cy="4777298"/>
          </a:xfrm>
          <a:custGeom>
            <a:avLst/>
            <a:gdLst/>
            <a:ahLst/>
            <a:cxnLst/>
            <a:rect r="r" b="b" t="t" l="l"/>
            <a:pathLst>
              <a:path h="4777298" w="12530617">
                <a:moveTo>
                  <a:pt x="0" y="0"/>
                </a:moveTo>
                <a:lnTo>
                  <a:pt x="12530617" y="0"/>
                </a:lnTo>
                <a:lnTo>
                  <a:pt x="12530617" y="4777298"/>
                </a:lnTo>
                <a:lnTo>
                  <a:pt x="0" y="4777298"/>
                </a:lnTo>
                <a:lnTo>
                  <a:pt x="0" y="0"/>
                </a:lnTo>
                <a:close/>
              </a:path>
            </a:pathLst>
          </a:custGeom>
          <a:blipFill>
            <a:blip r:embed="rId8"/>
            <a:stretch>
              <a:fillRect l="0" t="0" r="0" b="0"/>
            </a:stretch>
          </a:blipFill>
        </p:spPr>
      </p:sp>
      <p:sp>
        <p:nvSpPr>
          <p:cNvPr name="TextBox 9" id="9"/>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CODE WORKFLOW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75643" y="3511675"/>
            <a:ext cx="12536713" cy="3263649"/>
          </a:xfrm>
          <a:custGeom>
            <a:avLst/>
            <a:gdLst/>
            <a:ahLst/>
            <a:cxnLst/>
            <a:rect r="r" b="b" t="t" l="l"/>
            <a:pathLst>
              <a:path h="3263649" w="12536713">
                <a:moveTo>
                  <a:pt x="0" y="0"/>
                </a:moveTo>
                <a:lnTo>
                  <a:pt x="12536714" y="0"/>
                </a:lnTo>
                <a:lnTo>
                  <a:pt x="12536714" y="3263650"/>
                </a:lnTo>
                <a:lnTo>
                  <a:pt x="0" y="3263650"/>
                </a:lnTo>
                <a:lnTo>
                  <a:pt x="0" y="0"/>
                </a:lnTo>
                <a:close/>
              </a:path>
            </a:pathLst>
          </a:custGeom>
          <a:blipFill>
            <a:blip r:embed="rId8"/>
            <a:stretch>
              <a:fillRect l="0" t="0" r="0" b="0"/>
            </a:stretch>
          </a:blipFill>
        </p:spPr>
      </p:sp>
      <p:sp>
        <p:nvSpPr>
          <p:cNvPr name="TextBox 9" id="9"/>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CODE WORKFLOW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77675" y="3137885"/>
            <a:ext cx="12532651" cy="4011231"/>
          </a:xfrm>
          <a:custGeom>
            <a:avLst/>
            <a:gdLst/>
            <a:ahLst/>
            <a:cxnLst/>
            <a:rect r="r" b="b" t="t" l="l"/>
            <a:pathLst>
              <a:path h="4011231" w="12532651">
                <a:moveTo>
                  <a:pt x="0" y="0"/>
                </a:moveTo>
                <a:lnTo>
                  <a:pt x="12532650" y="0"/>
                </a:lnTo>
                <a:lnTo>
                  <a:pt x="12532650" y="4011230"/>
                </a:lnTo>
                <a:lnTo>
                  <a:pt x="0" y="4011230"/>
                </a:lnTo>
                <a:lnTo>
                  <a:pt x="0" y="0"/>
                </a:lnTo>
                <a:close/>
              </a:path>
            </a:pathLst>
          </a:custGeom>
          <a:blipFill>
            <a:blip r:embed="rId8"/>
            <a:stretch>
              <a:fillRect l="0" t="0" r="0" b="0"/>
            </a:stretch>
          </a:blipFill>
        </p:spPr>
      </p:sp>
      <p:sp>
        <p:nvSpPr>
          <p:cNvPr name="TextBox 9" id="9"/>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CODE WORKFLOW</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76658" y="3236898"/>
            <a:ext cx="12534683" cy="3813203"/>
          </a:xfrm>
          <a:custGeom>
            <a:avLst/>
            <a:gdLst/>
            <a:ahLst/>
            <a:cxnLst/>
            <a:rect r="r" b="b" t="t" l="l"/>
            <a:pathLst>
              <a:path h="3813203" w="12534683">
                <a:moveTo>
                  <a:pt x="0" y="0"/>
                </a:moveTo>
                <a:lnTo>
                  <a:pt x="12534684" y="0"/>
                </a:lnTo>
                <a:lnTo>
                  <a:pt x="12534684" y="3813204"/>
                </a:lnTo>
                <a:lnTo>
                  <a:pt x="0" y="3813204"/>
                </a:lnTo>
                <a:lnTo>
                  <a:pt x="0" y="0"/>
                </a:lnTo>
                <a:close/>
              </a:path>
            </a:pathLst>
          </a:custGeom>
          <a:blipFill>
            <a:blip r:embed="rId8"/>
            <a:stretch>
              <a:fillRect l="0" t="0" r="0" b="0"/>
            </a:stretch>
          </a:blipFill>
        </p:spPr>
      </p:sp>
      <p:sp>
        <p:nvSpPr>
          <p:cNvPr name="TextBox 9" id="9"/>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CODE WORKFLOW</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29572" y="2472169"/>
            <a:ext cx="10770885" cy="6849555"/>
          </a:xfrm>
          <a:custGeom>
            <a:avLst/>
            <a:gdLst/>
            <a:ahLst/>
            <a:cxnLst/>
            <a:rect r="r" b="b" t="t" l="l"/>
            <a:pathLst>
              <a:path h="6849555" w="10770885">
                <a:moveTo>
                  <a:pt x="0" y="0"/>
                </a:moveTo>
                <a:lnTo>
                  <a:pt x="10770885" y="0"/>
                </a:lnTo>
                <a:lnTo>
                  <a:pt x="10770885" y="6849556"/>
                </a:lnTo>
                <a:lnTo>
                  <a:pt x="0" y="6849556"/>
                </a:lnTo>
                <a:lnTo>
                  <a:pt x="0" y="0"/>
                </a:lnTo>
                <a:close/>
              </a:path>
            </a:pathLst>
          </a:custGeom>
          <a:blipFill>
            <a:blip r:embed="rId8"/>
            <a:stretch>
              <a:fillRect l="0" t="0" r="-16271" b="-2795"/>
            </a:stretch>
          </a:blipFill>
        </p:spPr>
      </p:sp>
      <p:sp>
        <p:nvSpPr>
          <p:cNvPr name="Freeform 9" id="9"/>
          <p:cNvSpPr/>
          <p:nvPr/>
        </p:nvSpPr>
        <p:spPr>
          <a:xfrm flipH="false" flipV="false" rot="0">
            <a:off x="11788727" y="1782147"/>
            <a:ext cx="5859939" cy="5859939"/>
          </a:xfrm>
          <a:custGeom>
            <a:avLst/>
            <a:gdLst/>
            <a:ahLst/>
            <a:cxnLst/>
            <a:rect r="r" b="b" t="t" l="l"/>
            <a:pathLst>
              <a:path h="5859939" w="5859939">
                <a:moveTo>
                  <a:pt x="0" y="0"/>
                </a:moveTo>
                <a:lnTo>
                  <a:pt x="5859939" y="0"/>
                </a:lnTo>
                <a:lnTo>
                  <a:pt x="5859939" y="5859939"/>
                </a:lnTo>
                <a:lnTo>
                  <a:pt x="0" y="58599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11257415" y="2757425"/>
            <a:ext cx="6565527" cy="5917791"/>
            <a:chOff x="0" y="0"/>
            <a:chExt cx="1729192" cy="1558595"/>
          </a:xfrm>
        </p:grpSpPr>
        <p:sp>
          <p:nvSpPr>
            <p:cNvPr name="Freeform 11" id="11"/>
            <p:cNvSpPr/>
            <p:nvPr/>
          </p:nvSpPr>
          <p:spPr>
            <a:xfrm flipH="false" flipV="false" rot="0">
              <a:off x="0" y="0"/>
              <a:ext cx="1729192" cy="1558595"/>
            </a:xfrm>
            <a:custGeom>
              <a:avLst/>
              <a:gdLst/>
              <a:ahLst/>
              <a:cxnLst/>
              <a:rect r="r" b="b" t="t" l="l"/>
              <a:pathLst>
                <a:path h="1558595" w="1729192">
                  <a:moveTo>
                    <a:pt x="60138" y="0"/>
                  </a:moveTo>
                  <a:lnTo>
                    <a:pt x="1669054" y="0"/>
                  </a:lnTo>
                  <a:cubicBezTo>
                    <a:pt x="1685004" y="0"/>
                    <a:pt x="1700300" y="6336"/>
                    <a:pt x="1711578" y="17614"/>
                  </a:cubicBezTo>
                  <a:cubicBezTo>
                    <a:pt x="1722856" y="28892"/>
                    <a:pt x="1729192" y="44188"/>
                    <a:pt x="1729192" y="60138"/>
                  </a:cubicBezTo>
                  <a:lnTo>
                    <a:pt x="1729192" y="1498457"/>
                  </a:lnTo>
                  <a:cubicBezTo>
                    <a:pt x="1729192" y="1514407"/>
                    <a:pt x="1722856" y="1529703"/>
                    <a:pt x="1711578" y="1540981"/>
                  </a:cubicBezTo>
                  <a:cubicBezTo>
                    <a:pt x="1700300" y="1552259"/>
                    <a:pt x="1685004" y="1558595"/>
                    <a:pt x="1669054" y="1558595"/>
                  </a:cubicBezTo>
                  <a:lnTo>
                    <a:pt x="60138" y="1558595"/>
                  </a:lnTo>
                  <a:cubicBezTo>
                    <a:pt x="44188" y="1558595"/>
                    <a:pt x="28892" y="1552259"/>
                    <a:pt x="17614" y="1540981"/>
                  </a:cubicBezTo>
                  <a:cubicBezTo>
                    <a:pt x="6336" y="1529703"/>
                    <a:pt x="0" y="1514407"/>
                    <a:pt x="0" y="1498457"/>
                  </a:cubicBezTo>
                  <a:lnTo>
                    <a:pt x="0" y="60138"/>
                  </a:lnTo>
                  <a:cubicBezTo>
                    <a:pt x="0" y="44188"/>
                    <a:pt x="6336" y="28892"/>
                    <a:pt x="17614" y="17614"/>
                  </a:cubicBezTo>
                  <a:cubicBezTo>
                    <a:pt x="28892" y="6336"/>
                    <a:pt x="44188" y="0"/>
                    <a:pt x="60138" y="0"/>
                  </a:cubicBezTo>
                  <a:close/>
                </a:path>
              </a:pathLst>
            </a:custGeom>
            <a:solidFill>
              <a:srgbClr val="E8FFCA"/>
            </a:solidFill>
          </p:spPr>
        </p:sp>
        <p:sp>
          <p:nvSpPr>
            <p:cNvPr name="TextBox 12" id="12"/>
            <p:cNvSpPr txBox="true"/>
            <p:nvPr/>
          </p:nvSpPr>
          <p:spPr>
            <a:xfrm>
              <a:off x="0" y="-38100"/>
              <a:ext cx="1729192" cy="1596695"/>
            </a:xfrm>
            <a:prstGeom prst="rect">
              <a:avLst/>
            </a:prstGeom>
          </p:spPr>
          <p:txBody>
            <a:bodyPr anchor="ctr" rtlCol="false" tIns="50800" lIns="50800" bIns="50800" rIns="50800"/>
            <a:lstStyle/>
            <a:p>
              <a:pPr algn="ctr">
                <a:lnSpc>
                  <a:spcPts val="2470"/>
                </a:lnSpc>
              </a:pPr>
              <a:r>
                <a:rPr lang="en-US" sz="1900" spc="-66">
                  <a:solidFill>
                    <a:srgbClr val="000000"/>
                  </a:solidFill>
                  <a:latin typeface="Poppins Light"/>
                  <a:ea typeface="Poppins Light"/>
                  <a:cs typeface="Poppins Light"/>
                  <a:sym typeface="Poppins Light"/>
                </a:rPr>
                <a:t> </a:t>
              </a:r>
              <a:r>
                <a:rPr lang="en-US" sz="1900" spc="-66">
                  <a:solidFill>
                    <a:srgbClr val="000000"/>
                  </a:solidFill>
                  <a:latin typeface="Poppins Light"/>
                  <a:ea typeface="Poppins Light"/>
                  <a:cs typeface="Poppins Light"/>
                  <a:sym typeface="Poppins Light"/>
                </a:rPr>
                <a:t>A correlation matrix represented through a heatmap, which illustrates the relationships between various financial metrics and variables. Each square's color intensity shows the strength and direction of correlations: red indicates a high positive correlation, while blue signifies a negative correlation. The matrix includes variables like total assets, current liabilities, gross profit, net profit, and various cash flows, allowing for a visual assessment of how these metrics interact and influence one another in a financial context. This visual tool is essential for identifying patterns and potential areas of concern or opportunity within financial data.</a:t>
              </a:r>
            </a:p>
          </p:txBody>
        </p:sp>
      </p:grpSp>
      <p:sp>
        <p:nvSpPr>
          <p:cNvPr name="TextBox 13" id="13"/>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59733" y="2472169"/>
            <a:ext cx="15889342" cy="6977186"/>
          </a:xfrm>
          <a:custGeom>
            <a:avLst/>
            <a:gdLst/>
            <a:ahLst/>
            <a:cxnLst/>
            <a:rect r="r" b="b" t="t" l="l"/>
            <a:pathLst>
              <a:path h="6977186" w="15889342">
                <a:moveTo>
                  <a:pt x="0" y="0"/>
                </a:moveTo>
                <a:lnTo>
                  <a:pt x="15889341" y="0"/>
                </a:lnTo>
                <a:lnTo>
                  <a:pt x="15889341" y="6977187"/>
                </a:lnTo>
                <a:lnTo>
                  <a:pt x="0" y="6977187"/>
                </a:lnTo>
                <a:lnTo>
                  <a:pt x="0" y="0"/>
                </a:lnTo>
                <a:close/>
              </a:path>
            </a:pathLst>
          </a:custGeom>
          <a:blipFill>
            <a:blip r:embed="rId8"/>
            <a:stretch>
              <a:fillRect l="0" t="0" r="0" b="0"/>
            </a:stretch>
          </a:blipFill>
        </p:spPr>
      </p:sp>
      <p:grpSp>
        <p:nvGrpSpPr>
          <p:cNvPr name="Group 9" id="9"/>
          <p:cNvGrpSpPr/>
          <p:nvPr/>
        </p:nvGrpSpPr>
        <p:grpSpPr>
          <a:xfrm rot="0">
            <a:off x="9144000" y="3208486"/>
            <a:ext cx="8504666" cy="6240869"/>
            <a:chOff x="0" y="0"/>
            <a:chExt cx="2239912" cy="1643686"/>
          </a:xfrm>
        </p:grpSpPr>
        <p:sp>
          <p:nvSpPr>
            <p:cNvPr name="Freeform 10" id="10"/>
            <p:cNvSpPr/>
            <p:nvPr/>
          </p:nvSpPr>
          <p:spPr>
            <a:xfrm flipH="false" flipV="false" rot="0">
              <a:off x="0" y="0"/>
              <a:ext cx="2239912" cy="1643686"/>
            </a:xfrm>
            <a:custGeom>
              <a:avLst/>
              <a:gdLst/>
              <a:ahLst/>
              <a:cxnLst/>
              <a:rect r="r" b="b" t="t" l="l"/>
              <a:pathLst>
                <a:path h="1643686" w="2239912">
                  <a:moveTo>
                    <a:pt x="46426" y="0"/>
                  </a:moveTo>
                  <a:lnTo>
                    <a:pt x="2193486" y="0"/>
                  </a:lnTo>
                  <a:cubicBezTo>
                    <a:pt x="2205799" y="0"/>
                    <a:pt x="2217607" y="4891"/>
                    <a:pt x="2226314" y="13598"/>
                  </a:cubicBezTo>
                  <a:cubicBezTo>
                    <a:pt x="2235021" y="22304"/>
                    <a:pt x="2239912" y="34113"/>
                    <a:pt x="2239912" y="46426"/>
                  </a:cubicBezTo>
                  <a:lnTo>
                    <a:pt x="2239912" y="1597260"/>
                  </a:lnTo>
                  <a:cubicBezTo>
                    <a:pt x="2239912" y="1622900"/>
                    <a:pt x="2219126" y="1643686"/>
                    <a:pt x="2193486" y="1643686"/>
                  </a:cubicBezTo>
                  <a:lnTo>
                    <a:pt x="46426" y="1643686"/>
                  </a:lnTo>
                  <a:cubicBezTo>
                    <a:pt x="20786" y="1643686"/>
                    <a:pt x="0" y="1622900"/>
                    <a:pt x="0" y="1597260"/>
                  </a:cubicBezTo>
                  <a:lnTo>
                    <a:pt x="0" y="46426"/>
                  </a:lnTo>
                  <a:cubicBezTo>
                    <a:pt x="0" y="20786"/>
                    <a:pt x="20786" y="0"/>
                    <a:pt x="46426" y="0"/>
                  </a:cubicBezTo>
                  <a:close/>
                </a:path>
              </a:pathLst>
            </a:custGeom>
            <a:solidFill>
              <a:srgbClr val="E8FFCA"/>
            </a:solidFill>
          </p:spPr>
        </p:sp>
        <p:sp>
          <p:nvSpPr>
            <p:cNvPr name="TextBox 11" id="11"/>
            <p:cNvSpPr txBox="true"/>
            <p:nvPr/>
          </p:nvSpPr>
          <p:spPr>
            <a:xfrm>
              <a:off x="0" y="-38100"/>
              <a:ext cx="2239912" cy="1681786"/>
            </a:xfrm>
            <a:prstGeom prst="rect">
              <a:avLst/>
            </a:prstGeom>
          </p:spPr>
          <p:txBody>
            <a:bodyPr anchor="ctr" rtlCol="false" tIns="50800" lIns="50800" bIns="50800" rIns="50800"/>
            <a:lstStyle/>
            <a:p>
              <a:pPr algn="ctr">
                <a:lnSpc>
                  <a:spcPts val="2470"/>
                </a:lnSpc>
              </a:pPr>
              <a:r>
                <a:rPr lang="en-US" sz="1900" spc="-66">
                  <a:solidFill>
                    <a:srgbClr val="000000"/>
                  </a:solidFill>
                  <a:latin typeface="Poppins Light"/>
                  <a:ea typeface="Poppins Light"/>
                  <a:cs typeface="Poppins Light"/>
                  <a:sym typeface="Poppins Light"/>
                </a:rPr>
                <a:t>The image presents a line plot illustrating the revenue trend across various companies, labeled as "Company Index" on the x-axis and "Average Revenue" on the y-axis. The plot features numerous data points, some of which show significant spikes in revenue, particularly around company indices 40 and 45, indicating periods of high revenue generation. Additionally, there's a warning message indicating that a specific grouping method used in the code is deprecated, suggesting a need for an updated approach in the data manipulation process. Overall, the graph visually represents variations in average revenue among companies, with noticeable peaks and troughs throughout the dataset.</a:t>
              </a:r>
            </a:p>
          </p:txBody>
        </p:sp>
      </p:grpSp>
      <p:sp>
        <p:nvSpPr>
          <p:cNvPr name="TextBox 12" id="12"/>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59733" y="2556027"/>
            <a:ext cx="9609768" cy="7138684"/>
          </a:xfrm>
          <a:custGeom>
            <a:avLst/>
            <a:gdLst/>
            <a:ahLst/>
            <a:cxnLst/>
            <a:rect r="r" b="b" t="t" l="l"/>
            <a:pathLst>
              <a:path h="7138684" w="9609768">
                <a:moveTo>
                  <a:pt x="0" y="0"/>
                </a:moveTo>
                <a:lnTo>
                  <a:pt x="9609767" y="0"/>
                </a:lnTo>
                <a:lnTo>
                  <a:pt x="9609767" y="7138685"/>
                </a:lnTo>
                <a:lnTo>
                  <a:pt x="0" y="7138685"/>
                </a:lnTo>
                <a:lnTo>
                  <a:pt x="0" y="0"/>
                </a:lnTo>
                <a:close/>
              </a:path>
            </a:pathLst>
          </a:custGeom>
          <a:blipFill>
            <a:blip r:embed="rId8"/>
            <a:stretch>
              <a:fillRect l="0" t="0" r="0" b="0"/>
            </a:stretch>
          </a:blipFill>
        </p:spPr>
      </p:sp>
      <p:grpSp>
        <p:nvGrpSpPr>
          <p:cNvPr name="Group 9" id="9"/>
          <p:cNvGrpSpPr/>
          <p:nvPr/>
        </p:nvGrpSpPr>
        <p:grpSpPr>
          <a:xfrm rot="0">
            <a:off x="9929458" y="3048743"/>
            <a:ext cx="7719208" cy="5808374"/>
            <a:chOff x="0" y="0"/>
            <a:chExt cx="2033042" cy="1529777"/>
          </a:xfrm>
        </p:grpSpPr>
        <p:sp>
          <p:nvSpPr>
            <p:cNvPr name="Freeform 10" id="10"/>
            <p:cNvSpPr/>
            <p:nvPr/>
          </p:nvSpPr>
          <p:spPr>
            <a:xfrm flipH="false" flipV="false" rot="0">
              <a:off x="0" y="0"/>
              <a:ext cx="2033042" cy="1529777"/>
            </a:xfrm>
            <a:custGeom>
              <a:avLst/>
              <a:gdLst/>
              <a:ahLst/>
              <a:cxnLst/>
              <a:rect r="r" b="b" t="t" l="l"/>
              <a:pathLst>
                <a:path h="1529777" w="2033042">
                  <a:moveTo>
                    <a:pt x="51150" y="0"/>
                  </a:moveTo>
                  <a:lnTo>
                    <a:pt x="1981892" y="0"/>
                  </a:lnTo>
                  <a:cubicBezTo>
                    <a:pt x="1995458" y="0"/>
                    <a:pt x="2008468" y="5389"/>
                    <a:pt x="2018061" y="14982"/>
                  </a:cubicBezTo>
                  <a:cubicBezTo>
                    <a:pt x="2027653" y="24574"/>
                    <a:pt x="2033042" y="37584"/>
                    <a:pt x="2033042" y="51150"/>
                  </a:cubicBezTo>
                  <a:lnTo>
                    <a:pt x="2033042" y="1478627"/>
                  </a:lnTo>
                  <a:cubicBezTo>
                    <a:pt x="2033042" y="1506877"/>
                    <a:pt x="2010142" y="1529777"/>
                    <a:pt x="1981892" y="1529777"/>
                  </a:cubicBezTo>
                  <a:lnTo>
                    <a:pt x="51150" y="1529777"/>
                  </a:lnTo>
                  <a:cubicBezTo>
                    <a:pt x="22901" y="1529777"/>
                    <a:pt x="0" y="1506877"/>
                    <a:pt x="0" y="1478627"/>
                  </a:cubicBezTo>
                  <a:lnTo>
                    <a:pt x="0" y="51150"/>
                  </a:lnTo>
                  <a:cubicBezTo>
                    <a:pt x="0" y="22901"/>
                    <a:pt x="22901" y="0"/>
                    <a:pt x="51150" y="0"/>
                  </a:cubicBezTo>
                  <a:close/>
                </a:path>
              </a:pathLst>
            </a:custGeom>
            <a:solidFill>
              <a:srgbClr val="E8FFCA"/>
            </a:solidFill>
          </p:spPr>
        </p:sp>
        <p:sp>
          <p:nvSpPr>
            <p:cNvPr name="TextBox 11" id="11"/>
            <p:cNvSpPr txBox="true"/>
            <p:nvPr/>
          </p:nvSpPr>
          <p:spPr>
            <a:xfrm>
              <a:off x="0" y="-38100"/>
              <a:ext cx="2033042" cy="1567877"/>
            </a:xfrm>
            <a:prstGeom prst="rect">
              <a:avLst/>
            </a:prstGeom>
          </p:spPr>
          <p:txBody>
            <a:bodyPr anchor="ctr" rtlCol="false" tIns="50800" lIns="50800" bIns="50800" rIns="50800"/>
            <a:lstStyle/>
            <a:p>
              <a:pPr algn="ctr">
                <a:lnSpc>
                  <a:spcPts val="2470"/>
                </a:lnSpc>
              </a:pPr>
              <a:r>
                <a:rPr lang="en-US" sz="1900" spc="-66">
                  <a:solidFill>
                    <a:srgbClr val="000000"/>
                  </a:solidFill>
                  <a:latin typeface="Poppins Light"/>
                  <a:ea typeface="Poppins Light"/>
                  <a:cs typeface="Poppins Light"/>
                  <a:sym typeface="Poppins Light"/>
                </a:rPr>
                <a:t>The bar chart titled "Top 10 Companies by Revenue" displays the revenue of the leading companies in a structured format. KCHOL stands out as the highest revenue earner, approaching 3.5 trillion units. TUPS follows at a significantly lower level of just over 2 trillion, with THYAO and ISMEN also performing strongly but beneath the two leaders. The remaining companies, including AGHOL, FROTO, BIMAS, ARCLK, EREGL, and SISE, show progressively decreasing revenues, all remaining below the 1 trillion mark. The chart effectively highlights the stark differences in revenue among these top companies, illustrating KCHOL's dominant market position.</a:t>
              </a:r>
            </a:p>
          </p:txBody>
        </p:sp>
      </p:grpSp>
      <p:sp>
        <p:nvSpPr>
          <p:cNvPr name="TextBox 12" id="12"/>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39334" y="2472169"/>
            <a:ext cx="9714444" cy="6932301"/>
          </a:xfrm>
          <a:custGeom>
            <a:avLst/>
            <a:gdLst/>
            <a:ahLst/>
            <a:cxnLst/>
            <a:rect r="r" b="b" t="t" l="l"/>
            <a:pathLst>
              <a:path h="6932301" w="9714444">
                <a:moveTo>
                  <a:pt x="0" y="0"/>
                </a:moveTo>
                <a:lnTo>
                  <a:pt x="9714444" y="0"/>
                </a:lnTo>
                <a:lnTo>
                  <a:pt x="9714444" y="6932301"/>
                </a:lnTo>
                <a:lnTo>
                  <a:pt x="0" y="6932301"/>
                </a:lnTo>
                <a:lnTo>
                  <a:pt x="0" y="0"/>
                </a:lnTo>
                <a:close/>
              </a:path>
            </a:pathLst>
          </a:custGeom>
          <a:blipFill>
            <a:blip r:embed="rId8"/>
            <a:stretch>
              <a:fillRect l="0" t="0" r="0" b="0"/>
            </a:stretch>
          </a:blipFill>
        </p:spPr>
      </p:sp>
      <p:grpSp>
        <p:nvGrpSpPr>
          <p:cNvPr name="Group 9" id="9"/>
          <p:cNvGrpSpPr/>
          <p:nvPr/>
        </p:nvGrpSpPr>
        <p:grpSpPr>
          <a:xfrm rot="0">
            <a:off x="9775008" y="2659430"/>
            <a:ext cx="7873658" cy="6557780"/>
            <a:chOff x="0" y="0"/>
            <a:chExt cx="2073721" cy="1727152"/>
          </a:xfrm>
        </p:grpSpPr>
        <p:sp>
          <p:nvSpPr>
            <p:cNvPr name="Freeform 10" id="10"/>
            <p:cNvSpPr/>
            <p:nvPr/>
          </p:nvSpPr>
          <p:spPr>
            <a:xfrm flipH="false" flipV="false" rot="0">
              <a:off x="0" y="0"/>
              <a:ext cx="2073721" cy="1727152"/>
            </a:xfrm>
            <a:custGeom>
              <a:avLst/>
              <a:gdLst/>
              <a:ahLst/>
              <a:cxnLst/>
              <a:rect r="r" b="b" t="t" l="l"/>
              <a:pathLst>
                <a:path h="1727152" w="2073721">
                  <a:moveTo>
                    <a:pt x="50147" y="0"/>
                  </a:moveTo>
                  <a:lnTo>
                    <a:pt x="2023574" y="0"/>
                  </a:lnTo>
                  <a:cubicBezTo>
                    <a:pt x="2051269" y="0"/>
                    <a:pt x="2073721" y="22451"/>
                    <a:pt x="2073721" y="50147"/>
                  </a:cubicBezTo>
                  <a:lnTo>
                    <a:pt x="2073721" y="1677005"/>
                  </a:lnTo>
                  <a:cubicBezTo>
                    <a:pt x="2073721" y="1690305"/>
                    <a:pt x="2068438" y="1703060"/>
                    <a:pt x="2059033" y="1712464"/>
                  </a:cubicBezTo>
                  <a:cubicBezTo>
                    <a:pt x="2049629" y="1721869"/>
                    <a:pt x="2036874" y="1727152"/>
                    <a:pt x="2023574" y="1727152"/>
                  </a:cubicBezTo>
                  <a:lnTo>
                    <a:pt x="50147" y="1727152"/>
                  </a:lnTo>
                  <a:cubicBezTo>
                    <a:pt x="36847" y="1727152"/>
                    <a:pt x="24092" y="1721869"/>
                    <a:pt x="14688" y="1712464"/>
                  </a:cubicBezTo>
                  <a:cubicBezTo>
                    <a:pt x="5283" y="1703060"/>
                    <a:pt x="0" y="1690305"/>
                    <a:pt x="0" y="1677005"/>
                  </a:cubicBezTo>
                  <a:lnTo>
                    <a:pt x="0" y="50147"/>
                  </a:lnTo>
                  <a:cubicBezTo>
                    <a:pt x="0" y="36847"/>
                    <a:pt x="5283" y="24092"/>
                    <a:pt x="14688" y="14688"/>
                  </a:cubicBezTo>
                  <a:cubicBezTo>
                    <a:pt x="24092" y="5283"/>
                    <a:pt x="36847" y="0"/>
                    <a:pt x="50147" y="0"/>
                  </a:cubicBezTo>
                  <a:close/>
                </a:path>
              </a:pathLst>
            </a:custGeom>
            <a:solidFill>
              <a:srgbClr val="E8FFCA"/>
            </a:solidFill>
          </p:spPr>
        </p:sp>
        <p:sp>
          <p:nvSpPr>
            <p:cNvPr name="TextBox 11" id="11"/>
            <p:cNvSpPr txBox="true"/>
            <p:nvPr/>
          </p:nvSpPr>
          <p:spPr>
            <a:xfrm>
              <a:off x="0" y="-38100"/>
              <a:ext cx="2073721" cy="1765252"/>
            </a:xfrm>
            <a:prstGeom prst="rect">
              <a:avLst/>
            </a:prstGeom>
          </p:spPr>
          <p:txBody>
            <a:bodyPr anchor="ctr" rtlCol="false" tIns="50800" lIns="50800" bIns="50800" rIns="50800"/>
            <a:lstStyle/>
            <a:p>
              <a:pPr algn="ctr">
                <a:lnSpc>
                  <a:spcPts val="2470"/>
                </a:lnSpc>
              </a:pPr>
              <a:r>
                <a:rPr lang="en-US" sz="1900" spc="-66">
                  <a:solidFill>
                    <a:srgbClr val="000000"/>
                  </a:solidFill>
                  <a:latin typeface="Poppins Light"/>
                  <a:ea typeface="Poppins Light"/>
                  <a:cs typeface="Poppins Light"/>
                  <a:sym typeface="Poppins Light"/>
                </a:rPr>
                <a:t>The scatter plot titled "Scatter: Revenue vs Net Profit" displays the relationship between a company's revenue and its net profit. The x-axis represents revenue, while the y-axis indicates net profit, both with values reaching into the tens of billions. Most data points are clustered in the lower left quadrant, indicating that a majority of companies generate low revenue and net profit. A few outliers with significantly higher revenue and net profit are visible towards the upper right, suggesting that while the majority of firms may have minimal profit margins, a small number have achieved substantial financial success.</a:t>
              </a:r>
            </a:p>
          </p:txBody>
        </p:sp>
      </p:grpSp>
      <p:sp>
        <p:nvSpPr>
          <p:cNvPr name="TextBox 12" id="12"/>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93431" y="2224519"/>
            <a:ext cx="8670380" cy="7481699"/>
          </a:xfrm>
          <a:custGeom>
            <a:avLst/>
            <a:gdLst/>
            <a:ahLst/>
            <a:cxnLst/>
            <a:rect r="r" b="b" t="t" l="l"/>
            <a:pathLst>
              <a:path h="7481699" w="8670380">
                <a:moveTo>
                  <a:pt x="0" y="0"/>
                </a:moveTo>
                <a:lnTo>
                  <a:pt x="8670380" y="0"/>
                </a:lnTo>
                <a:lnTo>
                  <a:pt x="8670380" y="7481700"/>
                </a:lnTo>
                <a:lnTo>
                  <a:pt x="0" y="7481700"/>
                </a:lnTo>
                <a:lnTo>
                  <a:pt x="0" y="0"/>
                </a:lnTo>
                <a:close/>
              </a:path>
            </a:pathLst>
          </a:custGeom>
          <a:blipFill>
            <a:blip r:embed="rId8"/>
            <a:stretch>
              <a:fillRect l="0" t="0" r="0" b="0"/>
            </a:stretch>
          </a:blipFill>
        </p:spPr>
      </p:sp>
      <p:grpSp>
        <p:nvGrpSpPr>
          <p:cNvPr name="Group 9" id="9"/>
          <p:cNvGrpSpPr/>
          <p:nvPr/>
        </p:nvGrpSpPr>
        <p:grpSpPr>
          <a:xfrm rot="0">
            <a:off x="9392785" y="3832327"/>
            <a:ext cx="8255881" cy="5154078"/>
            <a:chOff x="0" y="0"/>
            <a:chExt cx="2174388" cy="1357453"/>
          </a:xfrm>
        </p:grpSpPr>
        <p:sp>
          <p:nvSpPr>
            <p:cNvPr name="Freeform 10" id="10"/>
            <p:cNvSpPr/>
            <p:nvPr/>
          </p:nvSpPr>
          <p:spPr>
            <a:xfrm flipH="false" flipV="false" rot="0">
              <a:off x="0" y="0"/>
              <a:ext cx="2174388" cy="1357453"/>
            </a:xfrm>
            <a:custGeom>
              <a:avLst/>
              <a:gdLst/>
              <a:ahLst/>
              <a:cxnLst/>
              <a:rect r="r" b="b" t="t" l="l"/>
              <a:pathLst>
                <a:path h="1357453" w="2174388">
                  <a:moveTo>
                    <a:pt x="47825" y="0"/>
                  </a:moveTo>
                  <a:lnTo>
                    <a:pt x="2126563" y="0"/>
                  </a:lnTo>
                  <a:cubicBezTo>
                    <a:pt x="2152976" y="0"/>
                    <a:pt x="2174388" y="21412"/>
                    <a:pt x="2174388" y="47825"/>
                  </a:cubicBezTo>
                  <a:lnTo>
                    <a:pt x="2174388" y="1309628"/>
                  </a:lnTo>
                  <a:cubicBezTo>
                    <a:pt x="2174388" y="1336041"/>
                    <a:pt x="2152976" y="1357453"/>
                    <a:pt x="2126563" y="1357453"/>
                  </a:cubicBezTo>
                  <a:lnTo>
                    <a:pt x="47825" y="1357453"/>
                  </a:lnTo>
                  <a:cubicBezTo>
                    <a:pt x="21412" y="1357453"/>
                    <a:pt x="0" y="1336041"/>
                    <a:pt x="0" y="1309628"/>
                  </a:cubicBezTo>
                  <a:lnTo>
                    <a:pt x="0" y="47825"/>
                  </a:lnTo>
                  <a:cubicBezTo>
                    <a:pt x="0" y="21412"/>
                    <a:pt x="21412" y="0"/>
                    <a:pt x="47825" y="0"/>
                  </a:cubicBezTo>
                  <a:close/>
                </a:path>
              </a:pathLst>
            </a:custGeom>
            <a:solidFill>
              <a:srgbClr val="E8FFCA"/>
            </a:solidFill>
          </p:spPr>
        </p:sp>
        <p:sp>
          <p:nvSpPr>
            <p:cNvPr name="TextBox 11" id="11"/>
            <p:cNvSpPr txBox="true"/>
            <p:nvPr/>
          </p:nvSpPr>
          <p:spPr>
            <a:xfrm>
              <a:off x="0" y="-38100"/>
              <a:ext cx="2174388" cy="1395553"/>
            </a:xfrm>
            <a:prstGeom prst="rect">
              <a:avLst/>
            </a:prstGeom>
          </p:spPr>
          <p:txBody>
            <a:bodyPr anchor="ctr" rtlCol="false" tIns="50800" lIns="50800" bIns="50800" rIns="50800"/>
            <a:lstStyle/>
            <a:p>
              <a:pPr algn="ctr">
                <a:lnSpc>
                  <a:spcPts val="2470"/>
                </a:lnSpc>
              </a:pPr>
              <a:r>
                <a:rPr lang="en-US" sz="1900" spc="-66">
                  <a:solidFill>
                    <a:srgbClr val="000000"/>
                  </a:solidFill>
                  <a:latin typeface="Poppins Light"/>
                  <a:ea typeface="Poppins Light"/>
                  <a:cs typeface="Poppins Light"/>
                  <a:sym typeface="Poppins Light"/>
                </a:rPr>
                <a:t>The image shows a graph comparing actual stock prices to the predicted stock prices based on revenue. The blue dots represent the actual stock prices, while the red line shows the predicted prices. Since the points closely follow the red line, this means the predictions were very accurate. Key numbers on the graph indicate an R² value of 1.0, meaning a perfect fit, and very low error values (RMSE and MAE), which further shows how well the model performed in making predictions.</a:t>
              </a:r>
            </a:p>
          </p:txBody>
        </p:sp>
      </p:grpSp>
      <p:sp>
        <p:nvSpPr>
          <p:cNvPr name="TextBox 12" id="12"/>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58359" y="2526158"/>
            <a:ext cx="9893087" cy="7241998"/>
          </a:xfrm>
          <a:custGeom>
            <a:avLst/>
            <a:gdLst/>
            <a:ahLst/>
            <a:cxnLst/>
            <a:rect r="r" b="b" t="t" l="l"/>
            <a:pathLst>
              <a:path h="7241998" w="9893087">
                <a:moveTo>
                  <a:pt x="0" y="0"/>
                </a:moveTo>
                <a:lnTo>
                  <a:pt x="9893087" y="0"/>
                </a:lnTo>
                <a:lnTo>
                  <a:pt x="9893087" y="7241998"/>
                </a:lnTo>
                <a:lnTo>
                  <a:pt x="0" y="7241998"/>
                </a:lnTo>
                <a:lnTo>
                  <a:pt x="0" y="0"/>
                </a:lnTo>
                <a:close/>
              </a:path>
            </a:pathLst>
          </a:custGeom>
          <a:blipFill>
            <a:blip r:embed="rId8"/>
            <a:stretch>
              <a:fillRect l="0" t="0" r="0" b="0"/>
            </a:stretch>
          </a:blipFill>
        </p:spPr>
      </p:sp>
      <p:grpSp>
        <p:nvGrpSpPr>
          <p:cNvPr name="Group 9" id="9"/>
          <p:cNvGrpSpPr/>
          <p:nvPr/>
        </p:nvGrpSpPr>
        <p:grpSpPr>
          <a:xfrm rot="0">
            <a:off x="9756751" y="2924693"/>
            <a:ext cx="8097638" cy="6061711"/>
            <a:chOff x="0" y="0"/>
            <a:chExt cx="2132711" cy="1596500"/>
          </a:xfrm>
        </p:grpSpPr>
        <p:sp>
          <p:nvSpPr>
            <p:cNvPr name="Freeform 10" id="10"/>
            <p:cNvSpPr/>
            <p:nvPr/>
          </p:nvSpPr>
          <p:spPr>
            <a:xfrm flipH="false" flipV="false" rot="0">
              <a:off x="0" y="0"/>
              <a:ext cx="2132711" cy="1596500"/>
            </a:xfrm>
            <a:custGeom>
              <a:avLst/>
              <a:gdLst/>
              <a:ahLst/>
              <a:cxnLst/>
              <a:rect r="r" b="b" t="t" l="l"/>
              <a:pathLst>
                <a:path h="1596500" w="2132711">
                  <a:moveTo>
                    <a:pt x="48760" y="0"/>
                  </a:moveTo>
                  <a:lnTo>
                    <a:pt x="2083951" y="0"/>
                  </a:lnTo>
                  <a:cubicBezTo>
                    <a:pt x="2110881" y="0"/>
                    <a:pt x="2132711" y="21830"/>
                    <a:pt x="2132711" y="48760"/>
                  </a:cubicBezTo>
                  <a:lnTo>
                    <a:pt x="2132711" y="1547740"/>
                  </a:lnTo>
                  <a:cubicBezTo>
                    <a:pt x="2132711" y="1574670"/>
                    <a:pt x="2110881" y="1596500"/>
                    <a:pt x="2083951" y="1596500"/>
                  </a:cubicBezTo>
                  <a:lnTo>
                    <a:pt x="48760" y="1596500"/>
                  </a:lnTo>
                  <a:cubicBezTo>
                    <a:pt x="21830" y="1596500"/>
                    <a:pt x="0" y="1574670"/>
                    <a:pt x="0" y="1547740"/>
                  </a:cubicBezTo>
                  <a:lnTo>
                    <a:pt x="0" y="48760"/>
                  </a:lnTo>
                  <a:cubicBezTo>
                    <a:pt x="0" y="21830"/>
                    <a:pt x="21830" y="0"/>
                    <a:pt x="48760" y="0"/>
                  </a:cubicBezTo>
                  <a:close/>
                </a:path>
              </a:pathLst>
            </a:custGeom>
            <a:solidFill>
              <a:srgbClr val="E8FFCA"/>
            </a:solidFill>
          </p:spPr>
        </p:sp>
        <p:sp>
          <p:nvSpPr>
            <p:cNvPr name="TextBox 11" id="11"/>
            <p:cNvSpPr txBox="true"/>
            <p:nvPr/>
          </p:nvSpPr>
          <p:spPr>
            <a:xfrm>
              <a:off x="0" y="57150"/>
              <a:ext cx="2132711" cy="1539350"/>
            </a:xfrm>
            <a:prstGeom prst="rect">
              <a:avLst/>
            </a:prstGeom>
          </p:spPr>
          <p:txBody>
            <a:bodyPr anchor="ctr" rtlCol="false" tIns="50800" lIns="50800" bIns="50800" rIns="50800"/>
            <a:lstStyle/>
            <a:p>
              <a:pPr algn="ctr">
                <a:lnSpc>
                  <a:spcPts val="2112"/>
                </a:lnSpc>
              </a:pPr>
            </a:p>
            <a:p>
              <a:pPr algn="ctr">
                <a:lnSpc>
                  <a:spcPts val="2470"/>
                </a:lnSpc>
              </a:pPr>
              <a:r>
                <a:rPr lang="en-US" sz="1900" spc="-66">
                  <a:solidFill>
                    <a:srgbClr val="000000"/>
                  </a:solidFill>
                  <a:latin typeface="Poppins Light"/>
                  <a:ea typeface="Poppins Light"/>
                  <a:cs typeface="Poppins Light"/>
                  <a:sym typeface="Poppins Light"/>
                </a:rPr>
                <a:t>The graph illustrates a comparison between actual revenue and forecasted revenue using the ARIMA model over a series of time steps. The "Actual" revenue is represented by a solid blue line, whereas the "ARIMA Forecast" is depicted as a dashed orange line. The vertical axis indicates the average revenue, measured in billions, while the horizontal axis represents time steps from 0 to 4. The actual revenue initially peaks before declining, while the forecasted revenue shows a less pronounced trend, suggesting a divergence between actual performance and the predictive model's output as time progresses.</a:t>
              </a:r>
            </a:p>
          </p:txBody>
        </p:sp>
      </p:grpSp>
      <p:sp>
        <p:nvSpPr>
          <p:cNvPr name="TextBox 12" id="12"/>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947748" y="7730719"/>
            <a:ext cx="3343492" cy="2043245"/>
          </a:xfrm>
          <a:custGeom>
            <a:avLst/>
            <a:gdLst/>
            <a:ahLst/>
            <a:cxnLst/>
            <a:rect r="r" b="b" t="t" l="l"/>
            <a:pathLst>
              <a:path h="2043245" w="3343492">
                <a:moveTo>
                  <a:pt x="0" y="0"/>
                </a:moveTo>
                <a:lnTo>
                  <a:pt x="3343492" y="0"/>
                </a:lnTo>
                <a:lnTo>
                  <a:pt x="3343492" y="2043245"/>
                </a:lnTo>
                <a:lnTo>
                  <a:pt x="0" y="2043245"/>
                </a:lnTo>
                <a:lnTo>
                  <a:pt x="0" y="0"/>
                </a:lnTo>
                <a:close/>
              </a:path>
            </a:pathLst>
          </a:custGeom>
          <a:blipFill>
            <a:blip r:embed="rId8"/>
            <a:stretch>
              <a:fillRect l="0" t="0" r="0" b="0"/>
            </a:stretch>
          </a:blipFill>
        </p:spPr>
      </p:sp>
      <p:sp>
        <p:nvSpPr>
          <p:cNvPr name="Freeform 9" id="9"/>
          <p:cNvSpPr/>
          <p:nvPr/>
        </p:nvSpPr>
        <p:spPr>
          <a:xfrm flipH="false" flipV="false" rot="0">
            <a:off x="557075" y="2481694"/>
            <a:ext cx="8308414" cy="7253878"/>
          </a:xfrm>
          <a:custGeom>
            <a:avLst/>
            <a:gdLst/>
            <a:ahLst/>
            <a:cxnLst/>
            <a:rect r="r" b="b" t="t" l="l"/>
            <a:pathLst>
              <a:path h="7253878" w="8308414">
                <a:moveTo>
                  <a:pt x="0" y="0"/>
                </a:moveTo>
                <a:lnTo>
                  <a:pt x="8308413" y="0"/>
                </a:lnTo>
                <a:lnTo>
                  <a:pt x="8308413" y="7253878"/>
                </a:lnTo>
                <a:lnTo>
                  <a:pt x="0" y="7253878"/>
                </a:lnTo>
                <a:lnTo>
                  <a:pt x="0" y="0"/>
                </a:lnTo>
                <a:close/>
              </a:path>
            </a:pathLst>
          </a:custGeom>
          <a:blipFill>
            <a:blip r:embed="rId9"/>
            <a:stretch>
              <a:fillRect l="0" t="0" r="-432" b="0"/>
            </a:stretch>
          </a:blipFill>
        </p:spPr>
      </p:sp>
      <p:grpSp>
        <p:nvGrpSpPr>
          <p:cNvPr name="Group 10" id="10"/>
          <p:cNvGrpSpPr/>
          <p:nvPr/>
        </p:nvGrpSpPr>
        <p:grpSpPr>
          <a:xfrm rot="0">
            <a:off x="8836913" y="2481694"/>
            <a:ext cx="9021552" cy="4821940"/>
            <a:chOff x="0" y="0"/>
            <a:chExt cx="2376047" cy="1269976"/>
          </a:xfrm>
        </p:grpSpPr>
        <p:sp>
          <p:nvSpPr>
            <p:cNvPr name="Freeform 11" id="11"/>
            <p:cNvSpPr/>
            <p:nvPr/>
          </p:nvSpPr>
          <p:spPr>
            <a:xfrm flipH="false" flipV="false" rot="0">
              <a:off x="0" y="0"/>
              <a:ext cx="2376047" cy="1269976"/>
            </a:xfrm>
            <a:custGeom>
              <a:avLst/>
              <a:gdLst/>
              <a:ahLst/>
              <a:cxnLst/>
              <a:rect r="r" b="b" t="t" l="l"/>
              <a:pathLst>
                <a:path h="1269976" w="2376047">
                  <a:moveTo>
                    <a:pt x="43766" y="0"/>
                  </a:moveTo>
                  <a:lnTo>
                    <a:pt x="2332281" y="0"/>
                  </a:lnTo>
                  <a:cubicBezTo>
                    <a:pt x="2356452" y="0"/>
                    <a:pt x="2376047" y="19595"/>
                    <a:pt x="2376047" y="43766"/>
                  </a:cubicBezTo>
                  <a:lnTo>
                    <a:pt x="2376047" y="1226210"/>
                  </a:lnTo>
                  <a:cubicBezTo>
                    <a:pt x="2376047" y="1250381"/>
                    <a:pt x="2356452" y="1269976"/>
                    <a:pt x="2332281" y="1269976"/>
                  </a:cubicBezTo>
                  <a:lnTo>
                    <a:pt x="43766" y="1269976"/>
                  </a:lnTo>
                  <a:cubicBezTo>
                    <a:pt x="19595" y="1269976"/>
                    <a:pt x="0" y="1250381"/>
                    <a:pt x="0" y="1226210"/>
                  </a:cubicBezTo>
                  <a:lnTo>
                    <a:pt x="0" y="43766"/>
                  </a:lnTo>
                  <a:cubicBezTo>
                    <a:pt x="0" y="19595"/>
                    <a:pt x="19595" y="0"/>
                    <a:pt x="43766" y="0"/>
                  </a:cubicBezTo>
                  <a:close/>
                </a:path>
              </a:pathLst>
            </a:custGeom>
            <a:solidFill>
              <a:srgbClr val="E8FFCA"/>
            </a:solidFill>
          </p:spPr>
        </p:sp>
        <p:sp>
          <p:nvSpPr>
            <p:cNvPr name="TextBox 12" id="12"/>
            <p:cNvSpPr txBox="true"/>
            <p:nvPr/>
          </p:nvSpPr>
          <p:spPr>
            <a:xfrm>
              <a:off x="0" y="-38100"/>
              <a:ext cx="2376047" cy="1308076"/>
            </a:xfrm>
            <a:prstGeom prst="rect">
              <a:avLst/>
            </a:prstGeom>
          </p:spPr>
          <p:txBody>
            <a:bodyPr anchor="ctr" rtlCol="false" tIns="50800" lIns="50800" bIns="50800" rIns="50800"/>
            <a:lstStyle/>
            <a:p>
              <a:pPr algn="ctr">
                <a:lnSpc>
                  <a:spcPts val="2470"/>
                </a:lnSpc>
              </a:pPr>
              <a:r>
                <a:rPr lang="en-US" sz="1900" spc="-66">
                  <a:solidFill>
                    <a:srgbClr val="000000"/>
                  </a:solidFill>
                  <a:latin typeface="Poppins Light"/>
                  <a:ea typeface="Poppins Light"/>
                  <a:cs typeface="Poppins Light"/>
                  <a:sym typeface="Poppins Light"/>
                </a:rPr>
                <a:t>The decision tree model demonstrates exemplary performance across various metrics, achieving an accuracy, precision, recall, and F1-score of 1.0, indicating flawless prediction capability. The confusion matrix further validates this exceptional performance, as it shows 15 true positives and 1 true negative, with no false positives or negatives, clearly categorizing each instance correctly. Overall, these results suggest that the model is highly reliable and effective in its classifications.</a:t>
              </a:r>
            </a:p>
          </p:txBody>
        </p:sp>
      </p:grpSp>
      <p:sp>
        <p:nvSpPr>
          <p:cNvPr name="TextBox 13" id="13"/>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947748" y="7818447"/>
            <a:ext cx="4324019" cy="2105770"/>
          </a:xfrm>
          <a:custGeom>
            <a:avLst/>
            <a:gdLst/>
            <a:ahLst/>
            <a:cxnLst/>
            <a:rect r="r" b="b" t="t" l="l"/>
            <a:pathLst>
              <a:path h="2105770" w="4324019">
                <a:moveTo>
                  <a:pt x="0" y="0"/>
                </a:moveTo>
                <a:lnTo>
                  <a:pt x="4324018" y="0"/>
                </a:lnTo>
                <a:lnTo>
                  <a:pt x="4324018" y="2105770"/>
                </a:lnTo>
                <a:lnTo>
                  <a:pt x="0" y="2105770"/>
                </a:lnTo>
                <a:lnTo>
                  <a:pt x="0" y="0"/>
                </a:lnTo>
                <a:close/>
              </a:path>
            </a:pathLst>
          </a:custGeom>
          <a:blipFill>
            <a:blip r:embed="rId8"/>
            <a:stretch>
              <a:fillRect l="0" t="-22203" r="0" b="0"/>
            </a:stretch>
          </a:blipFill>
        </p:spPr>
      </p:sp>
      <p:sp>
        <p:nvSpPr>
          <p:cNvPr name="Freeform 9" id="9"/>
          <p:cNvSpPr/>
          <p:nvPr/>
        </p:nvSpPr>
        <p:spPr>
          <a:xfrm flipH="false" flipV="false" rot="0">
            <a:off x="569456" y="2515351"/>
            <a:ext cx="8378292" cy="7210696"/>
          </a:xfrm>
          <a:custGeom>
            <a:avLst/>
            <a:gdLst/>
            <a:ahLst/>
            <a:cxnLst/>
            <a:rect r="r" b="b" t="t" l="l"/>
            <a:pathLst>
              <a:path h="7210696" w="8378292">
                <a:moveTo>
                  <a:pt x="0" y="0"/>
                </a:moveTo>
                <a:lnTo>
                  <a:pt x="8378292" y="0"/>
                </a:lnTo>
                <a:lnTo>
                  <a:pt x="8378292" y="7210696"/>
                </a:lnTo>
                <a:lnTo>
                  <a:pt x="0" y="7210696"/>
                </a:lnTo>
                <a:lnTo>
                  <a:pt x="0" y="0"/>
                </a:lnTo>
                <a:close/>
              </a:path>
            </a:pathLst>
          </a:custGeom>
          <a:blipFill>
            <a:blip r:embed="rId9"/>
            <a:stretch>
              <a:fillRect l="0" t="0" r="0" b="0"/>
            </a:stretch>
          </a:blipFill>
        </p:spPr>
      </p:sp>
      <p:grpSp>
        <p:nvGrpSpPr>
          <p:cNvPr name="Group 10" id="10"/>
          <p:cNvGrpSpPr/>
          <p:nvPr/>
        </p:nvGrpSpPr>
        <p:grpSpPr>
          <a:xfrm rot="0">
            <a:off x="8855821" y="2486776"/>
            <a:ext cx="9007767" cy="4820548"/>
            <a:chOff x="0" y="0"/>
            <a:chExt cx="2372416" cy="1269609"/>
          </a:xfrm>
        </p:grpSpPr>
        <p:sp>
          <p:nvSpPr>
            <p:cNvPr name="Freeform 11" id="11"/>
            <p:cNvSpPr/>
            <p:nvPr/>
          </p:nvSpPr>
          <p:spPr>
            <a:xfrm flipH="false" flipV="false" rot="0">
              <a:off x="0" y="0"/>
              <a:ext cx="2372416" cy="1269609"/>
            </a:xfrm>
            <a:custGeom>
              <a:avLst/>
              <a:gdLst/>
              <a:ahLst/>
              <a:cxnLst/>
              <a:rect r="r" b="b" t="t" l="l"/>
              <a:pathLst>
                <a:path h="1269609" w="2372416">
                  <a:moveTo>
                    <a:pt x="43833" y="0"/>
                  </a:moveTo>
                  <a:lnTo>
                    <a:pt x="2328583" y="0"/>
                  </a:lnTo>
                  <a:cubicBezTo>
                    <a:pt x="2340208" y="0"/>
                    <a:pt x="2351357" y="4618"/>
                    <a:pt x="2359578" y="12838"/>
                  </a:cubicBezTo>
                  <a:cubicBezTo>
                    <a:pt x="2367798" y="21059"/>
                    <a:pt x="2372416" y="32208"/>
                    <a:pt x="2372416" y="43833"/>
                  </a:cubicBezTo>
                  <a:lnTo>
                    <a:pt x="2372416" y="1225776"/>
                  </a:lnTo>
                  <a:cubicBezTo>
                    <a:pt x="2372416" y="1237402"/>
                    <a:pt x="2367798" y="1248551"/>
                    <a:pt x="2359578" y="1256771"/>
                  </a:cubicBezTo>
                  <a:cubicBezTo>
                    <a:pt x="2351357" y="1264991"/>
                    <a:pt x="2340208" y="1269609"/>
                    <a:pt x="2328583" y="1269609"/>
                  </a:cubicBezTo>
                  <a:lnTo>
                    <a:pt x="43833" y="1269609"/>
                  </a:lnTo>
                  <a:cubicBezTo>
                    <a:pt x="32208" y="1269609"/>
                    <a:pt x="21059" y="1264991"/>
                    <a:pt x="12838" y="1256771"/>
                  </a:cubicBezTo>
                  <a:cubicBezTo>
                    <a:pt x="4618" y="1248551"/>
                    <a:pt x="0" y="1237402"/>
                    <a:pt x="0" y="1225776"/>
                  </a:cubicBezTo>
                  <a:lnTo>
                    <a:pt x="0" y="43833"/>
                  </a:lnTo>
                  <a:cubicBezTo>
                    <a:pt x="0" y="32208"/>
                    <a:pt x="4618" y="21059"/>
                    <a:pt x="12838" y="12838"/>
                  </a:cubicBezTo>
                  <a:cubicBezTo>
                    <a:pt x="21059" y="4618"/>
                    <a:pt x="32208" y="0"/>
                    <a:pt x="43833" y="0"/>
                  </a:cubicBezTo>
                  <a:close/>
                </a:path>
              </a:pathLst>
            </a:custGeom>
            <a:solidFill>
              <a:srgbClr val="E8FFCA"/>
            </a:solidFill>
          </p:spPr>
        </p:sp>
        <p:sp>
          <p:nvSpPr>
            <p:cNvPr name="TextBox 12" id="12"/>
            <p:cNvSpPr txBox="true"/>
            <p:nvPr/>
          </p:nvSpPr>
          <p:spPr>
            <a:xfrm>
              <a:off x="0" y="-38100"/>
              <a:ext cx="2372416" cy="1307709"/>
            </a:xfrm>
            <a:prstGeom prst="rect">
              <a:avLst/>
            </a:prstGeom>
          </p:spPr>
          <p:txBody>
            <a:bodyPr anchor="ctr" rtlCol="false" tIns="50800" lIns="50800" bIns="50800" rIns="50800"/>
            <a:lstStyle/>
            <a:p>
              <a:pPr algn="ctr">
                <a:lnSpc>
                  <a:spcPts val="2470"/>
                </a:lnSpc>
              </a:pPr>
              <a:r>
                <a:rPr lang="en-US" sz="1900" spc="-66">
                  <a:solidFill>
                    <a:srgbClr val="000000"/>
                  </a:solidFill>
                  <a:latin typeface="Poppins Light"/>
                  <a:ea typeface="Poppins Light"/>
                  <a:cs typeface="Poppins Light"/>
                  <a:sym typeface="Poppins Light"/>
                </a:rPr>
                <a:t> It shows perfect scores (100% accuracy, precision, recall, and F1-score), meaning the model made no mistakes in predicting financial outcomes—like perfectly identifying good or bad loans. However, the second image (the confusion matrix) tells a different story: it shows 15 correct predictions but also 1 mistake. This inconsistency suggests there might be an error in how the results were calculated or reported. In finance, even one wrong prediction—such as approving a risky loan—can lead to losses, so it’s important to double-check the model’s performance carefully.</a:t>
              </a:r>
            </a:p>
          </p:txBody>
        </p:sp>
      </p:grpSp>
      <p:sp>
        <p:nvSpPr>
          <p:cNvPr name="TextBox 13" id="13"/>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59733" y="2391683"/>
            <a:ext cx="10612775" cy="7790542"/>
          </a:xfrm>
          <a:custGeom>
            <a:avLst/>
            <a:gdLst/>
            <a:ahLst/>
            <a:cxnLst/>
            <a:rect r="r" b="b" t="t" l="l"/>
            <a:pathLst>
              <a:path h="7790542" w="10612775">
                <a:moveTo>
                  <a:pt x="0" y="0"/>
                </a:moveTo>
                <a:lnTo>
                  <a:pt x="10612775" y="0"/>
                </a:lnTo>
                <a:lnTo>
                  <a:pt x="10612775" y="7790542"/>
                </a:lnTo>
                <a:lnTo>
                  <a:pt x="0" y="7790542"/>
                </a:lnTo>
                <a:lnTo>
                  <a:pt x="0" y="0"/>
                </a:lnTo>
                <a:close/>
              </a:path>
            </a:pathLst>
          </a:custGeom>
          <a:blipFill>
            <a:blip r:embed="rId8"/>
            <a:stretch>
              <a:fillRect l="0" t="0" r="0" b="0"/>
            </a:stretch>
          </a:blipFill>
        </p:spPr>
      </p:sp>
      <p:grpSp>
        <p:nvGrpSpPr>
          <p:cNvPr name="Group 9" id="9"/>
          <p:cNvGrpSpPr/>
          <p:nvPr/>
        </p:nvGrpSpPr>
        <p:grpSpPr>
          <a:xfrm rot="0">
            <a:off x="9479969" y="3987921"/>
            <a:ext cx="8168697" cy="5270379"/>
            <a:chOff x="0" y="0"/>
            <a:chExt cx="2151426" cy="1388083"/>
          </a:xfrm>
        </p:grpSpPr>
        <p:sp>
          <p:nvSpPr>
            <p:cNvPr name="Freeform 10" id="10"/>
            <p:cNvSpPr/>
            <p:nvPr/>
          </p:nvSpPr>
          <p:spPr>
            <a:xfrm flipH="false" flipV="false" rot="0">
              <a:off x="0" y="0"/>
              <a:ext cx="2151426" cy="1388083"/>
            </a:xfrm>
            <a:custGeom>
              <a:avLst/>
              <a:gdLst/>
              <a:ahLst/>
              <a:cxnLst/>
              <a:rect r="r" b="b" t="t" l="l"/>
              <a:pathLst>
                <a:path h="1388083" w="2151426">
                  <a:moveTo>
                    <a:pt x="48335" y="0"/>
                  </a:moveTo>
                  <a:lnTo>
                    <a:pt x="2103091" y="0"/>
                  </a:lnTo>
                  <a:cubicBezTo>
                    <a:pt x="2115910" y="0"/>
                    <a:pt x="2128204" y="5092"/>
                    <a:pt x="2137269" y="14157"/>
                  </a:cubicBezTo>
                  <a:cubicBezTo>
                    <a:pt x="2146334" y="23222"/>
                    <a:pt x="2151426" y="35516"/>
                    <a:pt x="2151426" y="48335"/>
                  </a:cubicBezTo>
                  <a:lnTo>
                    <a:pt x="2151426" y="1339748"/>
                  </a:lnTo>
                  <a:cubicBezTo>
                    <a:pt x="2151426" y="1352567"/>
                    <a:pt x="2146334" y="1364862"/>
                    <a:pt x="2137269" y="1373926"/>
                  </a:cubicBezTo>
                  <a:cubicBezTo>
                    <a:pt x="2128204" y="1382991"/>
                    <a:pt x="2115910" y="1388083"/>
                    <a:pt x="2103091" y="1388083"/>
                  </a:cubicBezTo>
                  <a:lnTo>
                    <a:pt x="48335" y="1388083"/>
                  </a:lnTo>
                  <a:cubicBezTo>
                    <a:pt x="35516" y="1388083"/>
                    <a:pt x="23222" y="1382991"/>
                    <a:pt x="14157" y="1373926"/>
                  </a:cubicBezTo>
                  <a:cubicBezTo>
                    <a:pt x="5092" y="1364862"/>
                    <a:pt x="0" y="1352567"/>
                    <a:pt x="0" y="1339748"/>
                  </a:cubicBezTo>
                  <a:lnTo>
                    <a:pt x="0" y="48335"/>
                  </a:lnTo>
                  <a:cubicBezTo>
                    <a:pt x="0" y="35516"/>
                    <a:pt x="5092" y="23222"/>
                    <a:pt x="14157" y="14157"/>
                  </a:cubicBezTo>
                  <a:cubicBezTo>
                    <a:pt x="23222" y="5092"/>
                    <a:pt x="35516" y="0"/>
                    <a:pt x="48335" y="0"/>
                  </a:cubicBezTo>
                  <a:close/>
                </a:path>
              </a:pathLst>
            </a:custGeom>
            <a:solidFill>
              <a:srgbClr val="E8FFCA"/>
            </a:solidFill>
          </p:spPr>
        </p:sp>
        <p:sp>
          <p:nvSpPr>
            <p:cNvPr name="TextBox 11" id="11"/>
            <p:cNvSpPr txBox="true"/>
            <p:nvPr/>
          </p:nvSpPr>
          <p:spPr>
            <a:xfrm>
              <a:off x="0" y="-38100"/>
              <a:ext cx="2151426" cy="1426183"/>
            </a:xfrm>
            <a:prstGeom prst="rect">
              <a:avLst/>
            </a:prstGeom>
          </p:spPr>
          <p:txBody>
            <a:bodyPr anchor="ctr" rtlCol="false" tIns="50800" lIns="50800" bIns="50800" rIns="50800"/>
            <a:lstStyle/>
            <a:p>
              <a:pPr algn="ctr">
                <a:lnSpc>
                  <a:spcPts val="2470"/>
                </a:lnSpc>
              </a:pPr>
              <a:r>
                <a:rPr lang="en-US" sz="1900" spc="-66">
                  <a:solidFill>
                    <a:srgbClr val="000000"/>
                  </a:solidFill>
                  <a:latin typeface="Poppins Light"/>
                  <a:ea typeface="Poppins Light"/>
                  <a:cs typeface="Poppins Light"/>
                  <a:sym typeface="Poppins Light"/>
                </a:rPr>
                <a:t>The graph shows a revenue forecasting model with weak performance—the R² score is only 0.23, meaning the model explains just 23% of revenue changes, which isn’t very reliable. The high RMSE (19.2 billion) and MAE (13.6 billion) errors mean the predictions are often far off from actual revenue, sometimes by billions. In finance, such large errors could lead to poor budgeting, cash flow mismanagement, or bad investment decisions. Businesses should improve the model or use additional data to make more accurate forecasts.</a:t>
              </a:r>
            </a:p>
          </p:txBody>
        </p:sp>
      </p:grpSp>
      <p:sp>
        <p:nvSpPr>
          <p:cNvPr name="TextBox 12" id="12"/>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39334" y="2472169"/>
            <a:ext cx="8951150" cy="7207063"/>
          </a:xfrm>
          <a:custGeom>
            <a:avLst/>
            <a:gdLst/>
            <a:ahLst/>
            <a:cxnLst/>
            <a:rect r="r" b="b" t="t" l="l"/>
            <a:pathLst>
              <a:path h="7207063" w="8951150">
                <a:moveTo>
                  <a:pt x="0" y="0"/>
                </a:moveTo>
                <a:lnTo>
                  <a:pt x="8951150" y="0"/>
                </a:lnTo>
                <a:lnTo>
                  <a:pt x="8951150" y="7207063"/>
                </a:lnTo>
                <a:lnTo>
                  <a:pt x="0" y="7207063"/>
                </a:lnTo>
                <a:lnTo>
                  <a:pt x="0" y="0"/>
                </a:lnTo>
                <a:close/>
              </a:path>
            </a:pathLst>
          </a:custGeom>
          <a:blipFill>
            <a:blip r:embed="rId8"/>
            <a:stretch>
              <a:fillRect l="0" t="0" r="0" b="-4556"/>
            </a:stretch>
          </a:blipFill>
        </p:spPr>
      </p:sp>
      <p:grpSp>
        <p:nvGrpSpPr>
          <p:cNvPr name="Group 9" id="9"/>
          <p:cNvGrpSpPr/>
          <p:nvPr/>
        </p:nvGrpSpPr>
        <p:grpSpPr>
          <a:xfrm rot="0">
            <a:off x="9590484" y="2950626"/>
            <a:ext cx="8058181" cy="5505307"/>
            <a:chOff x="0" y="0"/>
            <a:chExt cx="2122319" cy="1449957"/>
          </a:xfrm>
        </p:grpSpPr>
        <p:sp>
          <p:nvSpPr>
            <p:cNvPr name="Freeform 10" id="10"/>
            <p:cNvSpPr/>
            <p:nvPr/>
          </p:nvSpPr>
          <p:spPr>
            <a:xfrm flipH="false" flipV="false" rot="0">
              <a:off x="0" y="0"/>
              <a:ext cx="2122319" cy="1449957"/>
            </a:xfrm>
            <a:custGeom>
              <a:avLst/>
              <a:gdLst/>
              <a:ahLst/>
              <a:cxnLst/>
              <a:rect r="r" b="b" t="t" l="l"/>
              <a:pathLst>
                <a:path h="1449957" w="2122319">
                  <a:moveTo>
                    <a:pt x="48998" y="0"/>
                  </a:moveTo>
                  <a:lnTo>
                    <a:pt x="2073321" y="0"/>
                  </a:lnTo>
                  <a:cubicBezTo>
                    <a:pt x="2100382" y="0"/>
                    <a:pt x="2122319" y="21937"/>
                    <a:pt x="2122319" y="48998"/>
                  </a:cubicBezTo>
                  <a:lnTo>
                    <a:pt x="2122319" y="1400959"/>
                  </a:lnTo>
                  <a:cubicBezTo>
                    <a:pt x="2122319" y="1428020"/>
                    <a:pt x="2100382" y="1449957"/>
                    <a:pt x="2073321" y="1449957"/>
                  </a:cubicBezTo>
                  <a:lnTo>
                    <a:pt x="48998" y="1449957"/>
                  </a:lnTo>
                  <a:cubicBezTo>
                    <a:pt x="21937" y="1449957"/>
                    <a:pt x="0" y="1428020"/>
                    <a:pt x="0" y="1400959"/>
                  </a:cubicBezTo>
                  <a:lnTo>
                    <a:pt x="0" y="48998"/>
                  </a:lnTo>
                  <a:cubicBezTo>
                    <a:pt x="0" y="21937"/>
                    <a:pt x="21937" y="0"/>
                    <a:pt x="48998" y="0"/>
                  </a:cubicBezTo>
                  <a:close/>
                </a:path>
              </a:pathLst>
            </a:custGeom>
            <a:solidFill>
              <a:srgbClr val="E8FFCA"/>
            </a:solidFill>
          </p:spPr>
        </p:sp>
        <p:sp>
          <p:nvSpPr>
            <p:cNvPr name="TextBox 11" id="11"/>
            <p:cNvSpPr txBox="true"/>
            <p:nvPr/>
          </p:nvSpPr>
          <p:spPr>
            <a:xfrm>
              <a:off x="0" y="57150"/>
              <a:ext cx="2122319" cy="1392807"/>
            </a:xfrm>
            <a:prstGeom prst="rect">
              <a:avLst/>
            </a:prstGeom>
          </p:spPr>
          <p:txBody>
            <a:bodyPr anchor="ctr" rtlCol="false" tIns="50800" lIns="50800" bIns="50800" rIns="50800"/>
            <a:lstStyle/>
            <a:p>
              <a:pPr algn="ctr">
                <a:lnSpc>
                  <a:spcPts val="2112"/>
                </a:lnSpc>
              </a:pPr>
            </a:p>
            <a:p>
              <a:pPr algn="ctr">
                <a:lnSpc>
                  <a:spcPts val="2470"/>
                </a:lnSpc>
              </a:pPr>
              <a:r>
                <a:rPr lang="en-US" sz="1900" spc="-66">
                  <a:solidFill>
                    <a:srgbClr val="000000"/>
                  </a:solidFill>
                  <a:latin typeface="Poppins Light"/>
                  <a:ea typeface="Poppins Light"/>
                  <a:cs typeface="Poppins Light"/>
                  <a:sym typeface="Poppins Light"/>
                </a:rPr>
                <a:t>This graph shows a simulated stock price path using the Geometric Brownian Motion (GBM) model, where the price fluctuates between $80 and $105 over time. The Black-Scholes and Binomial Tree models both estimate the call option price at around $6.85, suggesting fair agreement between these pricing methods. This simulation helps traders and investors visualize potential stock movements and evaluate option pricing, though real markets may behave differently due to unexpected events.</a:t>
              </a:r>
            </a:p>
          </p:txBody>
        </p:sp>
      </p:grpSp>
      <p:sp>
        <p:nvSpPr>
          <p:cNvPr name="TextBox 12" id="12"/>
          <p:cNvSpPr txBox="true"/>
          <p:nvPr/>
        </p:nvSpPr>
        <p:spPr>
          <a:xfrm rot="0">
            <a:off x="1028700" y="1247775"/>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OUTPUT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solidFill>
              <a:srgbClr val="000000">
                <a:alpha val="0"/>
              </a:srgbClr>
            </a:solidFill>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639334" y="585496"/>
            <a:ext cx="220398" cy="191145"/>
          </a:xfrm>
          <a:custGeom>
            <a:avLst/>
            <a:gdLst/>
            <a:ahLst/>
            <a:cxnLst/>
            <a:rect r="r" b="b" t="t" l="l"/>
            <a:pathLst>
              <a:path h="191145" w="220398">
                <a:moveTo>
                  <a:pt x="0" y="0"/>
                </a:moveTo>
                <a:lnTo>
                  <a:pt x="220399" y="0"/>
                </a:lnTo>
                <a:lnTo>
                  <a:pt x="220399" y="191145"/>
                </a:lnTo>
                <a:lnTo>
                  <a:pt x="0" y="1911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607391" y="3912266"/>
            <a:ext cx="13073218" cy="1135678"/>
          </a:xfrm>
          <a:prstGeom prst="rect">
            <a:avLst/>
          </a:prstGeom>
        </p:spPr>
        <p:txBody>
          <a:bodyPr anchor="t" rtlCol="false" tIns="0" lIns="0" bIns="0" rIns="0">
            <a:spAutoFit/>
          </a:bodyPr>
          <a:lstStyle/>
          <a:p>
            <a:pPr algn="ctr">
              <a:lnSpc>
                <a:spcPts val="8152"/>
              </a:lnSpc>
            </a:pPr>
            <a:r>
              <a:rPr lang="en-US" sz="9057">
                <a:solidFill>
                  <a:srgbClr val="C1FF72"/>
                </a:solidFill>
                <a:latin typeface="Bicubik"/>
                <a:ea typeface="Bicubik"/>
                <a:cs typeface="Bicubik"/>
                <a:sym typeface="Bicubik"/>
              </a:rPr>
              <a:t>Thank You</a:t>
            </a:r>
          </a:p>
        </p:txBody>
      </p:sp>
      <p:sp>
        <p:nvSpPr>
          <p:cNvPr name="Freeform 7" id="7"/>
          <p:cNvSpPr/>
          <p:nvPr/>
        </p:nvSpPr>
        <p:spPr>
          <a:xfrm flipH="false" flipV="false" rot="0">
            <a:off x="8905610" y="2813402"/>
            <a:ext cx="476779" cy="119195"/>
          </a:xfrm>
          <a:custGeom>
            <a:avLst/>
            <a:gdLst/>
            <a:ahLst/>
            <a:cxnLst/>
            <a:rect r="r" b="b" t="t" l="l"/>
            <a:pathLst>
              <a:path h="119195" w="476779">
                <a:moveTo>
                  <a:pt x="0" y="0"/>
                </a:moveTo>
                <a:lnTo>
                  <a:pt x="476780" y="0"/>
                </a:lnTo>
                <a:lnTo>
                  <a:pt x="476780" y="119194"/>
                </a:lnTo>
                <a:lnTo>
                  <a:pt x="0" y="1191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50928" y="6778152"/>
            <a:ext cx="1616773" cy="884816"/>
          </a:xfrm>
          <a:custGeom>
            <a:avLst/>
            <a:gdLst/>
            <a:ahLst/>
            <a:cxnLst/>
            <a:rect r="r" b="b" t="t" l="l"/>
            <a:pathLst>
              <a:path h="884816" w="1616773">
                <a:moveTo>
                  <a:pt x="0" y="0"/>
                </a:moveTo>
                <a:lnTo>
                  <a:pt x="1616773" y="0"/>
                </a:lnTo>
                <a:lnTo>
                  <a:pt x="1616773" y="884816"/>
                </a:lnTo>
                <a:lnTo>
                  <a:pt x="0" y="884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5620299" y="6778152"/>
            <a:ext cx="1616773" cy="884816"/>
          </a:xfrm>
          <a:custGeom>
            <a:avLst/>
            <a:gdLst/>
            <a:ahLst/>
            <a:cxnLst/>
            <a:rect r="r" b="b" t="t" l="l"/>
            <a:pathLst>
              <a:path h="884816" w="1616773">
                <a:moveTo>
                  <a:pt x="0" y="0"/>
                </a:moveTo>
                <a:lnTo>
                  <a:pt x="1616773" y="0"/>
                </a:lnTo>
                <a:lnTo>
                  <a:pt x="1616773" y="884816"/>
                </a:lnTo>
                <a:lnTo>
                  <a:pt x="0" y="884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DAGpahiCv9M</dc:identifier>
  <dcterms:modified xsi:type="dcterms:W3CDTF">2011-08-01T06:04:30Z</dcterms:modified>
  <cp:revision>1</cp:revision>
  <dc:title>Green and Black Modern Machine Learning Presentation</dc:title>
</cp:coreProperties>
</file>